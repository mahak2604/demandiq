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58" d="100"/>
          <a:sy n="58" d="100"/>
        </p:scale>
        <p:origin x="964" y="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solidFill>
                  <a:srgbClr val="1E242C"/>
                </a:solidFill>
              </a:rPr>
              <a:t>Test MAPE, June-July 2015 (lower is better)</a:t>
            </a:r>
          </a:p>
        </c:rich>
      </c:tx>
      <c:overlay val="0"/>
    </c:title>
    <c:autoTitleDeleted val="0"/>
    <c:plotArea>
      <c:layout/>
      <c:barChart>
        <c:barDir val="bar"/>
        <c:grouping val="clustered"/>
        <c:varyColors val="1"/>
        <c:ser>
          <c:idx val="0"/>
          <c:order val="0"/>
          <c:tx>
            <c:strRef>
              <c:f>Sheet1!$B$1</c:f>
              <c:strCache>
                <c:ptCount val="1"/>
                <c:pt idx="0">
                  <c:v>Test MAPE (%)</c:v>
                </c:pt>
              </c:strCache>
            </c:strRef>
          </c:tx>
          <c:invertIfNegative val="1"/>
          <c:dPt>
            <c:idx val="0"/>
            <c:invertIfNegative val="1"/>
            <c:bubble3D val="0"/>
            <c:spPr>
              <a:solidFill>
                <a:srgbClr val="8A8F98"/>
              </a:solidFill>
            </c:spPr>
            <c:extLst>
              <c:ext xmlns:c16="http://schemas.microsoft.com/office/drawing/2014/chart" uri="{C3380CC4-5D6E-409C-BE32-E72D297353CC}">
                <c16:uniqueId val="{00000001-FD43-47BB-94C2-9FFBFAA81E57}"/>
              </c:ext>
            </c:extLst>
          </c:dPt>
          <c:dPt>
            <c:idx val="1"/>
            <c:invertIfNegative val="1"/>
            <c:bubble3D val="0"/>
            <c:spPr>
              <a:solidFill>
                <a:srgbClr val="8A8F98"/>
              </a:solidFill>
            </c:spPr>
            <c:extLst>
              <c:ext xmlns:c16="http://schemas.microsoft.com/office/drawing/2014/chart" uri="{C3380CC4-5D6E-409C-BE32-E72D297353CC}">
                <c16:uniqueId val="{00000003-FD43-47BB-94C2-9FFBFAA81E57}"/>
              </c:ext>
            </c:extLst>
          </c:dPt>
          <c:dPt>
            <c:idx val="2"/>
            <c:invertIfNegative val="1"/>
            <c:bubble3D val="0"/>
            <c:spPr>
              <a:solidFill>
                <a:srgbClr val="2E8B8B"/>
              </a:solidFill>
            </c:spPr>
            <c:extLst>
              <c:ext xmlns:c16="http://schemas.microsoft.com/office/drawing/2014/chart" uri="{C3380CC4-5D6E-409C-BE32-E72D297353CC}">
                <c16:uniqueId val="{00000005-FD43-47BB-94C2-9FFBFAA81E57}"/>
              </c:ext>
            </c:extLst>
          </c:dPt>
          <c:dPt>
            <c:idx val="3"/>
            <c:invertIfNegative val="1"/>
            <c:bubble3D val="0"/>
            <c:spPr>
              <a:solidFill>
                <a:srgbClr val="2E8B8B"/>
              </a:solidFill>
            </c:spPr>
            <c:extLst>
              <c:ext xmlns:c16="http://schemas.microsoft.com/office/drawing/2014/chart" uri="{C3380CC4-5D6E-409C-BE32-E72D297353CC}">
                <c16:uniqueId val="{00000007-FD43-47BB-94C2-9FFBFAA81E57}"/>
              </c:ext>
            </c:extLst>
          </c:dPt>
          <c:dPt>
            <c:idx val="4"/>
            <c:invertIfNegative val="1"/>
            <c:bubble3D val="0"/>
            <c:spPr>
              <a:solidFill>
                <a:srgbClr val="1F3A5F"/>
              </a:solidFill>
            </c:spPr>
            <c:extLst>
              <c:ext xmlns:c16="http://schemas.microsoft.com/office/drawing/2014/chart" uri="{C3380CC4-5D6E-409C-BE32-E72D297353CC}">
                <c16:uniqueId val="{00000009-FD43-47BB-94C2-9FFBFAA81E57}"/>
              </c:ext>
            </c:extLst>
          </c:dPt>
          <c:dLbls>
            <c:numFmt formatCode="0.0&quot;%&quot;" sourceLinked="0"/>
            <c:spPr>
              <a:noFill/>
              <a:ln>
                <a:noFill/>
              </a:ln>
              <a:effectLst/>
            </c:spPr>
            <c:txPr>
              <a:bodyPr/>
              <a:lstStyle/>
              <a:p>
                <a:pPr>
                  <a:defRPr sz="13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Naive (last week)</c:v>
                </c:pt>
                <c:pt idx="1">
                  <c:v>Historical average</c:v>
                </c:pt>
                <c:pt idx="2">
                  <c:v>Ridge regression</c:v>
                </c:pt>
                <c:pt idx="3">
                  <c:v>Random Forest</c:v>
                </c:pt>
                <c:pt idx="4">
                  <c:v>Gradient Boosting</c:v>
                </c:pt>
              </c:strCache>
            </c:strRef>
          </c:cat>
          <c:val>
            <c:numRef>
              <c:f>Sheet1!$B$2:$B$6</c:f>
              <c:numCache>
                <c:formatCode>General</c:formatCode>
                <c:ptCount val="5"/>
                <c:pt idx="0">
                  <c:v>31.55</c:v>
                </c:pt>
                <c:pt idx="1">
                  <c:v>10.220000000000001</c:v>
                </c:pt>
                <c:pt idx="2">
                  <c:v>12.4</c:v>
                </c:pt>
                <c:pt idx="3">
                  <c:v>8.15</c:v>
                </c:pt>
                <c:pt idx="4">
                  <c:v>7.96</c:v>
                </c:pt>
              </c:numCache>
            </c:numRef>
          </c:val>
          <c:extLst>
            <c:ext xmlns:c16="http://schemas.microsoft.com/office/drawing/2014/chart" uri="{C3380CC4-5D6E-409C-BE32-E72D297353CC}">
              <c16:uniqueId val="{0000000A-FD43-47BB-94C2-9FFBFAA81E57}"/>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BBBBBB"/>
            </a:solidFill>
          </a:ln>
        </c:spPr>
        <c:txPr>
          <a:bodyPr/>
          <a:lstStyle/>
          <a:p>
            <a:pPr>
              <a:defRPr sz="1300"/>
            </a:pPr>
            <a:endParaRPr lang="en-US"/>
          </a:p>
        </c:txPr>
        <c:crossAx val="-2113994440"/>
        <c:crosses val="autoZero"/>
        <c:auto val="1"/>
        <c:lblAlgn val="ctr"/>
        <c:lblOffset val="100"/>
        <c:noMultiLvlLbl val="0"/>
      </c:catAx>
      <c:valAx>
        <c:axId val="-2113994440"/>
        <c:scaling>
          <c:orientation val="minMax"/>
          <c:max val="36"/>
          <c:min val="0"/>
        </c:scaling>
        <c:delete val="0"/>
        <c:axPos val="t"/>
        <c:majorGridlines>
          <c:spPr>
            <a:ln>
              <a:solidFill>
                <a:srgbClr val="E3E3E3"/>
              </a:solidFill>
            </a:ln>
          </c:spPr>
        </c:majorGridlines>
        <c:numFmt formatCode="General" sourceLinked="1"/>
        <c:majorTickMark val="out"/>
        <c:minorTickMark val="none"/>
        <c:tickLblPos val="none"/>
        <c:spPr>
          <a:ln>
            <a:noFill/>
          </a:ln>
        </c:spPr>
        <c:crossAx val="-2068027336"/>
        <c:crosses val="autoZero"/>
        <c:crossBetween val="between"/>
        <c:majorUnit val="10"/>
      </c:valAx>
    </c:plotArea>
    <c:plotVisOnly val="1"/>
    <c:dispBlanksAs val="gap"/>
    <c:showDLblsOverMax val="1"/>
  </c:chart>
  <c:txPr>
    <a:bodyPr/>
    <a:lstStyle/>
    <a:p>
      <a:pPr>
        <a:defRPr sz="1300">
          <a:solidFill>
            <a:srgbClr val="5A627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400" b="1">
                <a:solidFill>
                  <a:srgbClr val="1E242C"/>
                </a:solidFill>
              </a:rPr>
              <a:t>Stockout days, test window (%)</a:t>
            </a:r>
          </a:p>
        </c:rich>
      </c:tx>
      <c:overlay val="0"/>
    </c:title>
    <c:autoTitleDeleted val="0"/>
    <c:plotArea>
      <c:layout/>
      <c:barChart>
        <c:barDir val="col"/>
        <c:grouping val="clustered"/>
        <c:varyColors val="1"/>
        <c:ser>
          <c:idx val="0"/>
          <c:order val="0"/>
          <c:tx>
            <c:strRef>
              <c:f>Sheet1!$B$1</c:f>
              <c:strCache>
                <c:ptCount val="1"/>
                <c:pt idx="0">
                  <c:v>Stockout days (%)</c:v>
                </c:pt>
              </c:strCache>
            </c:strRef>
          </c:tx>
          <c:invertIfNegative val="1"/>
          <c:dPt>
            <c:idx val="0"/>
            <c:invertIfNegative val="1"/>
            <c:bubble3D val="0"/>
            <c:spPr>
              <a:solidFill>
                <a:srgbClr val="8A8F98"/>
              </a:solidFill>
            </c:spPr>
            <c:extLst>
              <c:ext xmlns:c16="http://schemas.microsoft.com/office/drawing/2014/chart" uri="{C3380CC4-5D6E-409C-BE32-E72D297353CC}">
                <c16:uniqueId val="{00000001-9DB0-4E09-97E0-999A525ECE3E}"/>
              </c:ext>
            </c:extLst>
          </c:dPt>
          <c:dPt>
            <c:idx val="1"/>
            <c:invertIfNegative val="1"/>
            <c:bubble3D val="0"/>
            <c:spPr>
              <a:solidFill>
                <a:srgbClr val="2E8B8B"/>
              </a:solidFill>
            </c:spPr>
            <c:extLst>
              <c:ext xmlns:c16="http://schemas.microsoft.com/office/drawing/2014/chart" uri="{C3380CC4-5D6E-409C-BE32-E72D297353CC}">
                <c16:uniqueId val="{00000003-9DB0-4E09-97E0-999A525ECE3E}"/>
              </c:ext>
            </c:extLst>
          </c:dPt>
          <c:dPt>
            <c:idx val="2"/>
            <c:invertIfNegative val="1"/>
            <c:bubble3D val="0"/>
            <c:spPr>
              <a:solidFill>
                <a:srgbClr val="1F3A5F"/>
              </a:solidFill>
            </c:spPr>
            <c:extLst>
              <c:ext xmlns:c16="http://schemas.microsoft.com/office/drawing/2014/chart" uri="{C3380CC4-5D6E-409C-BE32-E72D297353CC}">
                <c16:uniqueId val="{00000005-9DB0-4E09-97E0-999A525ECE3E}"/>
              </c:ext>
            </c:extLst>
          </c:dPt>
          <c:dLbls>
            <c:numFmt formatCode="0.00&quot;%&quot;" sourceLinked="0"/>
            <c:spPr>
              <a:noFill/>
              <a:ln>
                <a:noFill/>
              </a:ln>
              <a:effectLst/>
            </c:spPr>
            <c:txPr>
              <a:bodyPr/>
              <a:lstStyle/>
              <a:p>
                <a:pPr>
                  <a:defRPr sz="14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 Manager rule</c:v>
                </c:pt>
                <c:pt idx="1">
                  <c:v>B. DemandIQ forecast</c:v>
                </c:pt>
                <c:pt idx="2">
                  <c:v>C. + risk alerts</c:v>
                </c:pt>
              </c:strCache>
            </c:strRef>
          </c:cat>
          <c:val>
            <c:numRef>
              <c:f>Sheet1!$B$2:$B$4</c:f>
              <c:numCache>
                <c:formatCode>General</c:formatCode>
                <c:ptCount val="3"/>
                <c:pt idx="0">
                  <c:v>7.51</c:v>
                </c:pt>
                <c:pt idx="1">
                  <c:v>2.66</c:v>
                </c:pt>
                <c:pt idx="2">
                  <c:v>1.5</c:v>
                </c:pt>
              </c:numCache>
            </c:numRef>
          </c:val>
          <c:extLst>
            <c:ext xmlns:c16="http://schemas.microsoft.com/office/drawing/2014/chart" uri="{C3380CC4-5D6E-409C-BE32-E72D297353CC}">
              <c16:uniqueId val="{00000006-9DB0-4E09-97E0-999A525ECE3E}"/>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200"/>
            </a:pPr>
            <a:endParaRPr lang="en-US"/>
          </a:p>
        </c:txPr>
        <c:crossAx val="-2113994440"/>
        <c:crosses val="autoZero"/>
        <c:auto val="1"/>
        <c:lblAlgn val="ctr"/>
        <c:lblOffset val="100"/>
        <c:noMultiLvlLbl val="0"/>
      </c:catAx>
      <c:valAx>
        <c:axId val="-2113994440"/>
        <c:scaling>
          <c:orientation val="minMax"/>
          <c:max val="9"/>
        </c:scaling>
        <c:delete val="0"/>
        <c:axPos val="l"/>
        <c:majorGridlines>
          <c:spPr>
            <a:ln>
              <a:solidFill>
                <a:srgbClr val="E3E3E3"/>
              </a:solidFill>
            </a:ln>
          </c:spPr>
        </c:majorGridlines>
        <c:numFmt formatCode="General" sourceLinked="1"/>
        <c:majorTickMark val="out"/>
        <c:minorTickMark val="none"/>
        <c:tickLblPos val="nextTo"/>
        <c:spPr>
          <a:ln>
            <a:noFill/>
          </a:ln>
        </c:spPr>
        <c:crossAx val="-2068027336"/>
        <c:crosses val="autoZero"/>
        <c:crossBetween val="between"/>
      </c:valAx>
    </c:plotArea>
    <c:plotVisOnly val="1"/>
    <c:dispBlanksAs val="gap"/>
    <c:showDLblsOverMax val="1"/>
  </c:chart>
  <c:txPr>
    <a:bodyPr/>
    <a:lstStyle/>
    <a:p>
      <a:pPr>
        <a:defRPr sz="1300">
          <a:solidFill>
            <a:srgbClr val="5A6270"/>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3003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We are presenting DemandIQ, a classical machine-learning system that forecasts demand, predicts stockouts, recommends order quantities and explains every number. No deep learning is used.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Both mistakes cost money. A worldwide study found 8.3% of items out of stock on a normal day. The root cause is uncertainty about demand, and simple ordering rules ignore the things that drive it.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Objective one is the forecast. Objective two uses it with current stock to give a risk probability. Objective three turns both into an order quantity. Objective four explains each number and lets the user play what-if. Clustering is a supporting objective.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read 20 textbooks for foundations and 15 papers for the state of the art. Five lessons shaped the design: ML wins on retail data, promotions need features, stockout prediction needs stock plus forecast, accuracy is not the same as a good decision, and explanations usually stop at the forecast.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gap links back to specific papers in the report. G1 and G2 are the main contribution: one pipeline that is explained end to end. G6 is a practical gap: public data does not contain stock levels.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data is public Rossmann data. We keep 935 stores with complete history. The split is by time: train to March 2015, validate April-May, test June-July. The test window is used once, at the end.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patterns drive demand: promotions, the weekly rhythm and the calendar. A rule that only looks at last month's average misses all three.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box is one Python script. Clean and build features, segment stores, forecast demand, replay inventory and predict risk, decide the order, explain with SHAP, and show it in the dashboard.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cluster stores on six traits measured on the training window. Silhouette scores are low for every k, so stores form a continuum; we chose k equals 4 because the elbow flattens and the groups are easy to act 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naive forecast is poor because promotions alternate weekly. The historical average is a strong baseline at 10.2%. Ridge is worse because it cannot model interactions. Gradient Boosting was best on validation and reaches 7.96% on the test window, R-squared 0.941.</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Black dots are actual sales, the orange line is our forecast and the band is the P10 to P90 range. Red squares mark promotion days, and the forecast jumps with them.</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 public dataset has stock levels. We replay a realistic ordering process over the real sales, with late deliveries, and calibrate it to the 8.3% stockout rate found in real stores. This gives stock levels and stockout labels.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classifier sees stock, deliveries due, the forecast and promotions ahead. The manager's rule of thumb is barely better than chance because it ignores promotions and late deliveries. Our model reaches ROC-AUC 0.873. Risk is shown as LOW, MEDIUM or HIGH.</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three policies face the same real demand and the same late deliveries. The manager rule gives 7.51% stockout days. Using our forecast gives 2.66%. Adding risk-triggered emergency orders gives 1.50%, and total cost falls by 63%. Lost margin is the biggest cost for the manager.</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our answer to the obvious objection. Each dot is one setting. The DemandIQ curve is below the manager's curve everywhere: for the same stock, fewer stockouts.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SHAP splits each prediction into the push from each input. On the left, the global view. On the right, one forecast: start from the average day, and each bar pushes it up or down. SHAP values here are exact and add up to the prediction.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 demo: pick a store, switch on a promotion in the what-if page, and see the forecast and order change. The risk page lists stores by risk with a recommended order.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state limitations openly. The biggest is that stock levels are simulated; the next step is a dataset with real stockout labels and product-level demand.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summarise: an accurate forecast, a calibrated risk score, a transparent order rule and SHAP explanations together cut stockout days sharply at lower cost. Thank you, we are happy to take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chart" Target="../charts/char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3A5F"/>
        </a:solidFill>
        <a:effectLst/>
      </p:bgPr>
    </p:bg>
    <p:spTree>
      <p:nvGrpSpPr>
        <p:cNvPr id="1" name=""/>
        <p:cNvGrpSpPr/>
        <p:nvPr/>
      </p:nvGrpSpPr>
      <p:grpSpPr>
        <a:xfrm>
          <a:off x="0" y="0"/>
          <a:ext cx="0" cy="0"/>
          <a:chOff x="0" y="0"/>
          <a:chExt cx="0" cy="0"/>
        </a:xfrm>
      </p:grpSpPr>
      <p:sp>
        <p:nvSpPr>
          <p:cNvPr id="2" name="Rounded Rectangle 1"/>
          <p:cNvSpPr/>
          <p:nvPr/>
        </p:nvSpPr>
        <p:spPr>
          <a:xfrm>
            <a:off x="548640" y="502920"/>
            <a:ext cx="1234440" cy="12344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 name="Picture 2" descr="nmims_logo.png"/>
          <p:cNvPicPr>
            <a:picLocks noChangeAspect="1"/>
          </p:cNvPicPr>
          <p:nvPr/>
        </p:nvPicPr>
        <p:blipFill>
          <a:blip r:embed="rId3"/>
          <a:stretch>
            <a:fillRect/>
          </a:stretch>
        </p:blipFill>
        <p:spPr>
          <a:xfrm>
            <a:off x="621792" y="579504"/>
            <a:ext cx="1088136" cy="1081270"/>
          </a:xfrm>
          <a:prstGeom prst="rect">
            <a:avLst/>
          </a:prstGeom>
        </p:spPr>
      </p:pic>
      <p:sp>
        <p:nvSpPr>
          <p:cNvPr id="4" name="TextBox 3"/>
          <p:cNvSpPr txBox="1"/>
          <p:nvPr/>
        </p:nvSpPr>
        <p:spPr>
          <a:xfrm>
            <a:off x="2011680" y="658368"/>
            <a:ext cx="8229600" cy="365760"/>
          </a:xfrm>
          <a:prstGeom prst="rect">
            <a:avLst/>
          </a:prstGeom>
          <a:noFill/>
        </p:spPr>
        <p:txBody>
          <a:bodyPr wrap="square" lIns="0" tIns="0" rIns="0" bIns="0" anchor="t">
            <a:spAutoFit/>
          </a:bodyPr>
          <a:lstStyle/>
          <a:p>
            <a:pPr algn="l"/>
            <a:r>
              <a:rPr sz="1400" b="0" i="0">
                <a:solidFill>
                  <a:srgbClr val="C9D6E3"/>
                </a:solidFill>
                <a:latin typeface="Calibri"/>
              </a:rPr>
              <a:t>SVKM's NMIMS  |  Mukesh Patel School of Technology Management &amp; Engineering</a:t>
            </a:r>
          </a:p>
        </p:txBody>
      </p:sp>
      <p:sp>
        <p:nvSpPr>
          <p:cNvPr id="5" name="TextBox 4"/>
          <p:cNvSpPr txBox="1"/>
          <p:nvPr/>
        </p:nvSpPr>
        <p:spPr>
          <a:xfrm>
            <a:off x="2011680" y="1024128"/>
            <a:ext cx="8229600" cy="365760"/>
          </a:xfrm>
          <a:prstGeom prst="rect">
            <a:avLst/>
          </a:prstGeom>
          <a:noFill/>
        </p:spPr>
        <p:txBody>
          <a:bodyPr wrap="square" lIns="0" tIns="0" rIns="0" bIns="0" anchor="t">
            <a:spAutoFit/>
          </a:bodyPr>
          <a:lstStyle/>
          <a:p>
            <a:pPr algn="l"/>
            <a:r>
              <a:rPr sz="1400" b="0" i="0">
                <a:solidFill>
                  <a:srgbClr val="C9D6E3"/>
                </a:solidFill>
                <a:latin typeface="Calibri"/>
              </a:rPr>
              <a:t>Machine Learning  |  B.Tech Semester V  |  AY 2026-27</a:t>
            </a:r>
          </a:p>
        </p:txBody>
      </p:sp>
      <p:sp>
        <p:nvSpPr>
          <p:cNvPr id="6" name="TextBox 5"/>
          <p:cNvSpPr txBox="1"/>
          <p:nvPr/>
        </p:nvSpPr>
        <p:spPr>
          <a:xfrm>
            <a:off x="548640" y="2240280"/>
            <a:ext cx="10972800" cy="1097280"/>
          </a:xfrm>
          <a:prstGeom prst="rect">
            <a:avLst/>
          </a:prstGeom>
          <a:noFill/>
        </p:spPr>
        <p:txBody>
          <a:bodyPr wrap="square" lIns="0" tIns="0" rIns="0" bIns="0" anchor="t">
            <a:spAutoFit/>
          </a:bodyPr>
          <a:lstStyle/>
          <a:p>
            <a:pPr algn="l"/>
            <a:r>
              <a:rPr sz="6600" b="1" i="0">
                <a:solidFill>
                  <a:srgbClr val="FFFFFF"/>
                </a:solidFill>
                <a:latin typeface="Cambria"/>
              </a:rPr>
              <a:t>DemandIQ</a:t>
            </a:r>
          </a:p>
        </p:txBody>
      </p:sp>
      <p:sp>
        <p:nvSpPr>
          <p:cNvPr id="7" name="TextBox 6"/>
          <p:cNvSpPr txBox="1"/>
          <p:nvPr/>
        </p:nvSpPr>
        <p:spPr>
          <a:xfrm>
            <a:off x="548640" y="3291840"/>
            <a:ext cx="10515600" cy="822960"/>
          </a:xfrm>
          <a:prstGeom prst="rect">
            <a:avLst/>
          </a:prstGeom>
          <a:noFill/>
        </p:spPr>
        <p:txBody>
          <a:bodyPr wrap="square" lIns="0" tIns="0" rIns="0" bIns="0" anchor="t">
            <a:spAutoFit/>
          </a:bodyPr>
          <a:lstStyle/>
          <a:p>
            <a:pPr algn="l"/>
            <a:r>
              <a:rPr sz="2600" b="0" i="0">
                <a:solidFill>
                  <a:srgbClr val="F2C16B"/>
                </a:solidFill>
                <a:latin typeface="Cambria"/>
              </a:rPr>
              <a:t>Machine learning for product demand and stockout risk prediction</a:t>
            </a:r>
          </a:p>
        </p:txBody>
      </p:sp>
      <p:sp>
        <p:nvSpPr>
          <p:cNvPr id="8" name="TextBox 7"/>
          <p:cNvSpPr txBox="1"/>
          <p:nvPr/>
        </p:nvSpPr>
        <p:spPr>
          <a:xfrm>
            <a:off x="548640" y="3977639"/>
            <a:ext cx="10515600" cy="457200"/>
          </a:xfrm>
          <a:prstGeom prst="rect">
            <a:avLst/>
          </a:prstGeom>
          <a:noFill/>
        </p:spPr>
        <p:txBody>
          <a:bodyPr wrap="square" lIns="0" tIns="0" rIns="0" bIns="0" anchor="t">
            <a:spAutoFit/>
          </a:bodyPr>
          <a:lstStyle/>
          <a:p>
            <a:pPr algn="l"/>
            <a:r>
              <a:rPr sz="1600" b="0" i="0">
                <a:solidFill>
                  <a:srgbClr val="C9D6E3"/>
                </a:solidFill>
                <a:latin typeface="Calibri"/>
              </a:rPr>
              <a:t>Forecast what will sell  •  warn what will run out  •  say how much to order  •  explain why</a:t>
            </a:r>
          </a:p>
        </p:txBody>
      </p:sp>
      <p:sp>
        <p:nvSpPr>
          <p:cNvPr id="9" name="Rounded Rectangle 8"/>
          <p:cNvSpPr/>
          <p:nvPr/>
        </p:nvSpPr>
        <p:spPr>
          <a:xfrm>
            <a:off x="548640" y="4983480"/>
            <a:ext cx="2606040" cy="868680"/>
          </a:xfrm>
          <a:prstGeom prst="roundRect">
            <a:avLst>
              <a:gd name="adj" fmla="val 10000"/>
            </a:avLst>
          </a:prstGeom>
          <a:solidFill>
            <a:srgbClr val="162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31520" y="5102352"/>
            <a:ext cx="2286000" cy="365760"/>
          </a:xfrm>
          <a:prstGeom prst="rect">
            <a:avLst/>
          </a:prstGeom>
          <a:noFill/>
        </p:spPr>
        <p:txBody>
          <a:bodyPr wrap="square" lIns="0" tIns="0" rIns="0" bIns="0" anchor="t">
            <a:spAutoFit/>
          </a:bodyPr>
          <a:lstStyle/>
          <a:p>
            <a:pPr algn="l"/>
            <a:r>
              <a:rPr sz="1600" b="1" i="0">
                <a:solidFill>
                  <a:srgbClr val="FFFFFF"/>
                </a:solidFill>
                <a:latin typeface="Calibri"/>
              </a:rPr>
              <a:t>Yash Shah</a:t>
            </a:r>
          </a:p>
        </p:txBody>
      </p:sp>
      <p:sp>
        <p:nvSpPr>
          <p:cNvPr id="11" name="TextBox 10"/>
          <p:cNvSpPr txBox="1"/>
          <p:nvPr/>
        </p:nvSpPr>
        <p:spPr>
          <a:xfrm>
            <a:off x="731520" y="5440680"/>
            <a:ext cx="2286000" cy="274320"/>
          </a:xfrm>
          <a:prstGeom prst="rect">
            <a:avLst/>
          </a:prstGeom>
          <a:noFill/>
        </p:spPr>
        <p:txBody>
          <a:bodyPr wrap="square" lIns="0" tIns="0" rIns="0" bIns="0" anchor="t">
            <a:spAutoFit/>
          </a:bodyPr>
          <a:lstStyle/>
          <a:p>
            <a:pPr algn="l"/>
            <a:r>
              <a:rPr sz="1300" b="0" i="0">
                <a:solidFill>
                  <a:srgbClr val="C9D6E3"/>
                </a:solidFill>
                <a:latin typeface="Calibri"/>
              </a:rPr>
              <a:t>L056</a:t>
            </a:r>
          </a:p>
        </p:txBody>
      </p:sp>
      <p:sp>
        <p:nvSpPr>
          <p:cNvPr id="12" name="Rounded Rectangle 11"/>
          <p:cNvSpPr/>
          <p:nvPr/>
        </p:nvSpPr>
        <p:spPr>
          <a:xfrm>
            <a:off x="3337560" y="4983480"/>
            <a:ext cx="2606040" cy="868680"/>
          </a:xfrm>
          <a:prstGeom prst="roundRect">
            <a:avLst>
              <a:gd name="adj" fmla="val 10000"/>
            </a:avLst>
          </a:prstGeom>
          <a:solidFill>
            <a:srgbClr val="162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520440" y="5102352"/>
            <a:ext cx="2286000" cy="365760"/>
          </a:xfrm>
          <a:prstGeom prst="rect">
            <a:avLst/>
          </a:prstGeom>
          <a:noFill/>
        </p:spPr>
        <p:txBody>
          <a:bodyPr wrap="square" lIns="0" tIns="0" rIns="0" bIns="0" anchor="t">
            <a:spAutoFit/>
          </a:bodyPr>
          <a:lstStyle/>
          <a:p>
            <a:pPr algn="l"/>
            <a:r>
              <a:rPr sz="1600" b="1" i="0">
                <a:solidFill>
                  <a:srgbClr val="FFFFFF"/>
                </a:solidFill>
                <a:latin typeface="Calibri"/>
              </a:rPr>
              <a:t>Mahak Wadhawan</a:t>
            </a:r>
          </a:p>
        </p:txBody>
      </p:sp>
      <p:sp>
        <p:nvSpPr>
          <p:cNvPr id="14" name="TextBox 13"/>
          <p:cNvSpPr txBox="1"/>
          <p:nvPr/>
        </p:nvSpPr>
        <p:spPr>
          <a:xfrm>
            <a:off x="3520440" y="5440680"/>
            <a:ext cx="2286000" cy="274320"/>
          </a:xfrm>
          <a:prstGeom prst="rect">
            <a:avLst/>
          </a:prstGeom>
          <a:noFill/>
        </p:spPr>
        <p:txBody>
          <a:bodyPr wrap="square" lIns="0" tIns="0" rIns="0" bIns="0" anchor="t">
            <a:spAutoFit/>
          </a:bodyPr>
          <a:lstStyle/>
          <a:p>
            <a:pPr algn="l"/>
            <a:r>
              <a:rPr sz="1300" b="0" i="0">
                <a:solidFill>
                  <a:srgbClr val="C9D6E3"/>
                </a:solidFill>
                <a:latin typeface="Calibri"/>
              </a:rPr>
              <a:t>L074</a:t>
            </a:r>
          </a:p>
        </p:txBody>
      </p:sp>
      <p:sp>
        <p:nvSpPr>
          <p:cNvPr id="15" name="Rounded Rectangle 14"/>
          <p:cNvSpPr/>
          <p:nvPr/>
        </p:nvSpPr>
        <p:spPr>
          <a:xfrm>
            <a:off x="6126479" y="4983480"/>
            <a:ext cx="2606040" cy="868680"/>
          </a:xfrm>
          <a:prstGeom prst="roundRect">
            <a:avLst>
              <a:gd name="adj" fmla="val 10000"/>
            </a:avLst>
          </a:prstGeom>
          <a:solidFill>
            <a:srgbClr val="162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309359" y="5102352"/>
            <a:ext cx="2286000" cy="365760"/>
          </a:xfrm>
          <a:prstGeom prst="rect">
            <a:avLst/>
          </a:prstGeom>
          <a:noFill/>
        </p:spPr>
        <p:txBody>
          <a:bodyPr wrap="square" lIns="0" tIns="0" rIns="0" bIns="0" anchor="t">
            <a:spAutoFit/>
          </a:bodyPr>
          <a:lstStyle/>
          <a:p>
            <a:pPr algn="l"/>
            <a:r>
              <a:rPr sz="1600" b="1" i="0">
                <a:solidFill>
                  <a:srgbClr val="FFFFFF"/>
                </a:solidFill>
                <a:latin typeface="Calibri"/>
              </a:rPr>
              <a:t>Yash Patil</a:t>
            </a:r>
          </a:p>
        </p:txBody>
      </p:sp>
      <p:sp>
        <p:nvSpPr>
          <p:cNvPr id="17" name="TextBox 16"/>
          <p:cNvSpPr txBox="1"/>
          <p:nvPr/>
        </p:nvSpPr>
        <p:spPr>
          <a:xfrm>
            <a:off x="6309359" y="5440680"/>
            <a:ext cx="2286000" cy="274320"/>
          </a:xfrm>
          <a:prstGeom prst="rect">
            <a:avLst/>
          </a:prstGeom>
          <a:noFill/>
        </p:spPr>
        <p:txBody>
          <a:bodyPr wrap="square" lIns="0" tIns="0" rIns="0" bIns="0" anchor="t">
            <a:spAutoFit/>
          </a:bodyPr>
          <a:lstStyle/>
          <a:p>
            <a:pPr algn="l"/>
            <a:r>
              <a:rPr sz="1300" b="0" i="0">
                <a:solidFill>
                  <a:srgbClr val="C9D6E3"/>
                </a:solidFill>
                <a:latin typeface="Calibri"/>
              </a:rPr>
              <a:t>L043</a:t>
            </a:r>
          </a:p>
        </p:txBody>
      </p:sp>
      <p:sp>
        <p:nvSpPr>
          <p:cNvPr id="18" name="Rounded Rectangle 17"/>
          <p:cNvSpPr/>
          <p:nvPr/>
        </p:nvSpPr>
        <p:spPr>
          <a:xfrm>
            <a:off x="8915399" y="4983480"/>
            <a:ext cx="2606040" cy="868680"/>
          </a:xfrm>
          <a:prstGeom prst="roundRect">
            <a:avLst>
              <a:gd name="adj" fmla="val 10000"/>
            </a:avLst>
          </a:prstGeom>
          <a:solidFill>
            <a:srgbClr val="162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9098279" y="5102352"/>
            <a:ext cx="2286000" cy="365760"/>
          </a:xfrm>
          <a:prstGeom prst="rect">
            <a:avLst/>
          </a:prstGeom>
          <a:noFill/>
        </p:spPr>
        <p:txBody>
          <a:bodyPr wrap="square" lIns="0" tIns="0" rIns="0" bIns="0" anchor="t">
            <a:spAutoFit/>
          </a:bodyPr>
          <a:lstStyle/>
          <a:p>
            <a:pPr algn="l"/>
            <a:r>
              <a:rPr sz="1600" b="1" i="0">
                <a:solidFill>
                  <a:srgbClr val="FFFFFF"/>
                </a:solidFill>
                <a:latin typeface="Calibri"/>
              </a:rPr>
              <a:t>Varshita Vaan</a:t>
            </a:r>
          </a:p>
        </p:txBody>
      </p:sp>
      <p:sp>
        <p:nvSpPr>
          <p:cNvPr id="20" name="TextBox 19"/>
          <p:cNvSpPr txBox="1"/>
          <p:nvPr/>
        </p:nvSpPr>
        <p:spPr>
          <a:xfrm>
            <a:off x="9098279" y="5440680"/>
            <a:ext cx="2286000" cy="274320"/>
          </a:xfrm>
          <a:prstGeom prst="rect">
            <a:avLst/>
          </a:prstGeom>
          <a:noFill/>
        </p:spPr>
        <p:txBody>
          <a:bodyPr wrap="square" lIns="0" tIns="0" rIns="0" bIns="0" anchor="t">
            <a:spAutoFit/>
          </a:bodyPr>
          <a:lstStyle/>
          <a:p>
            <a:pPr algn="l"/>
            <a:r>
              <a:rPr sz="1300" b="0" i="0">
                <a:solidFill>
                  <a:srgbClr val="C9D6E3"/>
                </a:solidFill>
                <a:latin typeface="Calibri"/>
              </a:rPr>
              <a:t>L069</a:t>
            </a:r>
          </a:p>
        </p:txBody>
      </p:sp>
      <p:sp>
        <p:nvSpPr>
          <p:cNvPr id="21" name="TextBox 20"/>
          <p:cNvSpPr txBox="1"/>
          <p:nvPr/>
        </p:nvSpPr>
        <p:spPr>
          <a:xfrm>
            <a:off x="548640" y="6126480"/>
            <a:ext cx="7315200" cy="200055"/>
          </a:xfrm>
          <a:prstGeom prst="rect">
            <a:avLst/>
          </a:prstGeom>
          <a:noFill/>
        </p:spPr>
        <p:txBody>
          <a:bodyPr wrap="square" lIns="0" tIns="0" rIns="0" bIns="0" anchor="t">
            <a:spAutoFit/>
          </a:bodyPr>
          <a:lstStyle/>
          <a:p>
            <a:pPr algn="l"/>
            <a:r>
              <a:rPr sz="1300" b="0" i="0" dirty="0">
                <a:solidFill>
                  <a:srgbClr val="C9D6E3"/>
                </a:solidFill>
                <a:latin typeface="Calibri"/>
              </a:rPr>
              <a:t>Guide: Prof. </a:t>
            </a:r>
            <a:r>
              <a:rPr lang="en-IN" sz="1300" dirty="0">
                <a:solidFill>
                  <a:srgbClr val="C9D6E3"/>
                </a:solidFill>
                <a:latin typeface="Calibri"/>
              </a:rPr>
              <a:t>Abhay Kolhe</a:t>
            </a:r>
            <a:endParaRPr sz="1300" b="0" i="0" dirty="0">
              <a:solidFill>
                <a:srgbClr val="C9D6E3"/>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47472"/>
            <a:ext cx="8686800" cy="274320"/>
          </a:xfrm>
          <a:prstGeom prst="rect">
            <a:avLst/>
          </a:prstGeom>
          <a:noFill/>
        </p:spPr>
        <p:txBody>
          <a:bodyPr wrap="square" lIns="0" tIns="0" rIns="0" bIns="0" anchor="t">
            <a:spAutoFit/>
          </a:bodyPr>
          <a:lstStyle/>
          <a:p>
            <a:pPr algn="l"/>
            <a:r>
              <a:rPr sz="1100" b="1" i="0">
                <a:solidFill>
                  <a:srgbClr val="2E8B8B"/>
                </a:solidFill>
                <a:latin typeface="Calibri"/>
              </a:rPr>
              <a:t>THE PROBLEM</a:t>
            </a:r>
          </a:p>
        </p:txBody>
      </p:sp>
      <p:sp>
        <p:nvSpPr>
          <p:cNvPr id="3" name="Title"/>
          <p:cNvSpPr txBox="1"/>
          <p:nvPr/>
        </p:nvSpPr>
        <p:spPr>
          <a:xfrm>
            <a:off x="548640" y="603504"/>
            <a:ext cx="11064240" cy="731520"/>
          </a:xfrm>
          <a:prstGeom prst="rect">
            <a:avLst/>
          </a:prstGeom>
          <a:noFill/>
        </p:spPr>
        <p:txBody>
          <a:bodyPr wrap="square" lIns="0" tIns="0" rIns="0" bIns="0" anchor="t">
            <a:spAutoFit/>
          </a:bodyPr>
          <a:lstStyle/>
          <a:p>
            <a:pPr algn="l"/>
            <a:r>
              <a:rPr sz="3000" b="1" i="0">
                <a:solidFill>
                  <a:srgbClr val="1F3A5F"/>
                </a:solidFill>
                <a:latin typeface="Cambria"/>
              </a:rPr>
              <a:t>Every store asks one question: how much should we stock?</a:t>
            </a:r>
          </a:p>
        </p:txBody>
      </p:sp>
      <p:pic>
        <p:nvPicPr>
          <p:cNvPr id="4" name="Picture 3" descr="nmims_logo.png"/>
          <p:cNvPicPr>
            <a:picLocks noChangeAspect="1"/>
          </p:cNvPicPr>
          <p:nvPr/>
        </p:nvPicPr>
        <p:blipFill>
          <a:blip r:embed="rId3"/>
          <a:stretch>
            <a:fillRect/>
          </a:stretch>
        </p:blipFill>
        <p:spPr>
          <a:xfrm>
            <a:off x="11109960" y="274320"/>
            <a:ext cx="570527" cy="566928"/>
          </a:xfrm>
          <a:prstGeom prst="rect">
            <a:avLst/>
          </a:prstGeom>
        </p:spPr>
      </p:pic>
      <p:sp>
        <p:nvSpPr>
          <p:cNvPr id="5" name="TextBox 4"/>
          <p:cNvSpPr txBox="1"/>
          <p:nvPr/>
        </p:nvSpPr>
        <p:spPr>
          <a:xfrm>
            <a:off x="548640" y="6446520"/>
            <a:ext cx="5486400" cy="228600"/>
          </a:xfrm>
          <a:prstGeom prst="rect">
            <a:avLst/>
          </a:prstGeom>
          <a:noFill/>
        </p:spPr>
        <p:txBody>
          <a:bodyPr wrap="square" lIns="0" tIns="0" rIns="0" bIns="0" anchor="t">
            <a:spAutoFit/>
          </a:bodyPr>
          <a:lstStyle/>
          <a:p>
            <a:pPr algn="l"/>
            <a:r>
              <a:rPr sz="900" b="0" i="0">
                <a:solidFill>
                  <a:srgbClr val="8A8F98"/>
                </a:solidFill>
                <a:latin typeface="Calibri"/>
              </a:rPr>
              <a:t>DemandIQ  |  NMIMS MPSTME  |  Machine Learning, Sem V</a:t>
            </a:r>
          </a:p>
        </p:txBody>
      </p:sp>
      <p:sp>
        <p:nvSpPr>
          <p:cNvPr id="6" name="TextBox 5"/>
          <p:cNvSpPr txBox="1"/>
          <p:nvPr/>
        </p:nvSpPr>
        <p:spPr>
          <a:xfrm>
            <a:off x="11155680" y="6446520"/>
            <a:ext cx="502920" cy="228600"/>
          </a:xfrm>
          <a:prstGeom prst="rect">
            <a:avLst/>
          </a:prstGeom>
          <a:noFill/>
        </p:spPr>
        <p:txBody>
          <a:bodyPr wrap="square" lIns="0" tIns="0" rIns="0" bIns="0" anchor="t">
            <a:spAutoFit/>
          </a:bodyPr>
          <a:lstStyle/>
          <a:p>
            <a:pPr algn="r"/>
            <a:r>
              <a:rPr sz="900" b="0" i="0">
                <a:solidFill>
                  <a:srgbClr val="8A8F98"/>
                </a:solidFill>
                <a:latin typeface="Calibri"/>
              </a:rPr>
              <a:t>2</a:t>
            </a:r>
          </a:p>
        </p:txBody>
      </p:sp>
      <p:sp>
        <p:nvSpPr>
          <p:cNvPr id="7" name="Rounded Rectangle 6"/>
          <p:cNvSpPr/>
          <p:nvPr/>
        </p:nvSpPr>
        <p:spPr>
          <a:xfrm>
            <a:off x="548640" y="1600200"/>
            <a:ext cx="3611880" cy="324612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822959" y="1828800"/>
            <a:ext cx="566928" cy="566928"/>
          </a:xfrm>
          <a:prstGeom prst="ellipse">
            <a:avLst/>
          </a:prstGeom>
          <a:solidFill>
            <a:srgbClr val="B23A4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Cambria"/>
              </a:rPr>
              <a:t>↓</a:t>
            </a:r>
          </a:p>
        </p:txBody>
      </p:sp>
      <p:sp>
        <p:nvSpPr>
          <p:cNvPr id="9" name="TextBox 8"/>
          <p:cNvSpPr txBox="1"/>
          <p:nvPr/>
        </p:nvSpPr>
        <p:spPr>
          <a:xfrm>
            <a:off x="1554480" y="1920240"/>
            <a:ext cx="2468880" cy="457200"/>
          </a:xfrm>
          <a:prstGeom prst="rect">
            <a:avLst/>
          </a:prstGeom>
          <a:noFill/>
        </p:spPr>
        <p:txBody>
          <a:bodyPr wrap="square" lIns="0" tIns="0" rIns="0" bIns="0" anchor="t">
            <a:spAutoFit/>
          </a:bodyPr>
          <a:lstStyle/>
          <a:p>
            <a:pPr algn="l"/>
            <a:r>
              <a:rPr sz="2100" b="1" i="0">
                <a:solidFill>
                  <a:srgbClr val="1E242C"/>
                </a:solidFill>
                <a:latin typeface="Cambria"/>
              </a:rPr>
              <a:t>Too little stock</a:t>
            </a:r>
          </a:p>
        </p:txBody>
      </p:sp>
      <p:sp>
        <p:nvSpPr>
          <p:cNvPr id="10" name="TextBox 9"/>
          <p:cNvSpPr txBox="1"/>
          <p:nvPr/>
        </p:nvSpPr>
        <p:spPr>
          <a:xfrm>
            <a:off x="822959" y="2697480"/>
            <a:ext cx="3108960" cy="2011680"/>
          </a:xfrm>
          <a:prstGeom prst="rect">
            <a:avLst/>
          </a:prstGeom>
          <a:noFill/>
        </p:spPr>
        <p:txBody>
          <a:bodyPr wrap="square" lIns="0" tIns="0" rIns="0" bIns="0" anchor="t">
            <a:spAutoFit/>
          </a:bodyPr>
          <a:lstStyle/>
          <a:p>
            <a:pPr algn="l">
              <a:spcAft>
                <a:spcPts val="900"/>
              </a:spcAft>
            </a:pPr>
            <a:r>
              <a:rPr sz="1600" b="0" i="0">
                <a:solidFill>
                  <a:srgbClr val="1E242C"/>
                </a:solidFill>
                <a:latin typeface="Calibri"/>
              </a:rPr>
              <a:t>•  The shelf runs empty - the sale is lost</a:t>
            </a:r>
          </a:p>
          <a:p>
            <a:pPr algn="l">
              <a:spcAft>
                <a:spcPts val="900"/>
              </a:spcAft>
            </a:pPr>
            <a:r>
              <a:rPr sz="1600" b="0" i="0">
                <a:solidFill>
                  <a:srgbClr val="1E242C"/>
                </a:solidFill>
                <a:latin typeface="Calibri"/>
              </a:rPr>
              <a:t>•  The customer often goes to a competitor</a:t>
            </a:r>
          </a:p>
          <a:p>
            <a:pPr algn="l">
              <a:spcAft>
                <a:spcPts val="900"/>
              </a:spcAft>
            </a:pPr>
            <a:r>
              <a:rPr sz="1600" b="0" i="0">
                <a:solidFill>
                  <a:srgbClr val="1E242C"/>
                </a:solidFill>
                <a:latin typeface="Calibri"/>
              </a:rPr>
              <a:t>•  Empty shelves damage trust in the store</a:t>
            </a:r>
          </a:p>
        </p:txBody>
      </p:sp>
      <p:sp>
        <p:nvSpPr>
          <p:cNvPr id="11" name="Rounded Rectangle 10"/>
          <p:cNvSpPr/>
          <p:nvPr/>
        </p:nvSpPr>
        <p:spPr>
          <a:xfrm>
            <a:off x="4343400" y="1600200"/>
            <a:ext cx="3611880" cy="324612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4617720" y="1828800"/>
            <a:ext cx="566928" cy="566928"/>
          </a:xfrm>
          <a:prstGeom prst="ellipse">
            <a:avLst/>
          </a:prstGeom>
          <a:solidFill>
            <a:srgbClr val="D98E0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Cambria"/>
              </a:rPr>
              <a:t>↑</a:t>
            </a:r>
          </a:p>
        </p:txBody>
      </p:sp>
      <p:sp>
        <p:nvSpPr>
          <p:cNvPr id="13" name="TextBox 12"/>
          <p:cNvSpPr txBox="1"/>
          <p:nvPr/>
        </p:nvSpPr>
        <p:spPr>
          <a:xfrm>
            <a:off x="5349240" y="1920240"/>
            <a:ext cx="2468880" cy="457200"/>
          </a:xfrm>
          <a:prstGeom prst="rect">
            <a:avLst/>
          </a:prstGeom>
          <a:noFill/>
        </p:spPr>
        <p:txBody>
          <a:bodyPr wrap="square" lIns="0" tIns="0" rIns="0" bIns="0" anchor="t">
            <a:spAutoFit/>
          </a:bodyPr>
          <a:lstStyle/>
          <a:p>
            <a:pPr algn="l"/>
            <a:r>
              <a:rPr sz="2100" b="1" i="0">
                <a:solidFill>
                  <a:srgbClr val="1E242C"/>
                </a:solidFill>
                <a:latin typeface="Cambria"/>
              </a:rPr>
              <a:t>Too much stock</a:t>
            </a:r>
          </a:p>
        </p:txBody>
      </p:sp>
      <p:sp>
        <p:nvSpPr>
          <p:cNvPr id="14" name="TextBox 13"/>
          <p:cNvSpPr txBox="1"/>
          <p:nvPr/>
        </p:nvSpPr>
        <p:spPr>
          <a:xfrm>
            <a:off x="4617720" y="2697480"/>
            <a:ext cx="3108960" cy="2011680"/>
          </a:xfrm>
          <a:prstGeom prst="rect">
            <a:avLst/>
          </a:prstGeom>
          <a:noFill/>
        </p:spPr>
        <p:txBody>
          <a:bodyPr wrap="square" lIns="0" tIns="0" rIns="0" bIns="0" anchor="t">
            <a:spAutoFit/>
          </a:bodyPr>
          <a:lstStyle/>
          <a:p>
            <a:pPr algn="l">
              <a:spcAft>
                <a:spcPts val="900"/>
              </a:spcAft>
            </a:pPr>
            <a:r>
              <a:rPr sz="1600" b="0" i="0">
                <a:solidFill>
                  <a:srgbClr val="1E242C"/>
                </a:solidFill>
                <a:latin typeface="Calibri"/>
              </a:rPr>
              <a:t>•  Cash is locked up in goods</a:t>
            </a:r>
          </a:p>
          <a:p>
            <a:pPr algn="l">
              <a:spcAft>
                <a:spcPts val="900"/>
              </a:spcAft>
            </a:pPr>
            <a:r>
              <a:rPr sz="1600" b="0" i="0">
                <a:solidFill>
                  <a:srgbClr val="1E242C"/>
                </a:solidFill>
                <a:latin typeface="Calibri"/>
              </a:rPr>
              <a:t>•  Storage and handling costs keep adding up</a:t>
            </a:r>
          </a:p>
          <a:p>
            <a:pPr algn="l">
              <a:spcAft>
                <a:spcPts val="900"/>
              </a:spcAft>
            </a:pPr>
            <a:r>
              <a:rPr sz="1600" b="0" i="0">
                <a:solidFill>
                  <a:srgbClr val="1E242C"/>
                </a:solidFill>
                <a:latin typeface="Calibri"/>
              </a:rPr>
              <a:t>•  Old stock is discounted or thrown away</a:t>
            </a:r>
          </a:p>
        </p:txBody>
      </p:sp>
      <p:sp>
        <p:nvSpPr>
          <p:cNvPr id="15" name="Rounded Rectangle 14"/>
          <p:cNvSpPr/>
          <p:nvPr/>
        </p:nvSpPr>
        <p:spPr>
          <a:xfrm>
            <a:off x="8275320" y="1600200"/>
            <a:ext cx="3383280" cy="3246120"/>
          </a:xfrm>
          <a:prstGeom prst="roundRect">
            <a:avLst>
              <a:gd name="adj" fmla="val 8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549640" y="1874519"/>
            <a:ext cx="2926080" cy="1097280"/>
          </a:xfrm>
          <a:prstGeom prst="rect">
            <a:avLst/>
          </a:prstGeom>
          <a:noFill/>
        </p:spPr>
        <p:txBody>
          <a:bodyPr wrap="square" lIns="0" tIns="0" rIns="0" bIns="0" anchor="t">
            <a:spAutoFit/>
          </a:bodyPr>
          <a:lstStyle/>
          <a:p>
            <a:pPr algn="l"/>
            <a:r>
              <a:rPr sz="6000" b="1" i="0">
                <a:solidFill>
                  <a:srgbClr val="FFFFFF"/>
                </a:solidFill>
                <a:latin typeface="Cambria"/>
              </a:rPr>
              <a:t>8.3%</a:t>
            </a:r>
          </a:p>
        </p:txBody>
      </p:sp>
      <p:sp>
        <p:nvSpPr>
          <p:cNvPr id="17" name="TextBox 16"/>
          <p:cNvSpPr txBox="1"/>
          <p:nvPr/>
        </p:nvSpPr>
        <p:spPr>
          <a:xfrm>
            <a:off x="8549640" y="2971800"/>
            <a:ext cx="2926080" cy="1188720"/>
          </a:xfrm>
          <a:prstGeom prst="rect">
            <a:avLst/>
          </a:prstGeom>
          <a:noFill/>
        </p:spPr>
        <p:txBody>
          <a:bodyPr wrap="square" lIns="0" tIns="0" rIns="0" bIns="0" anchor="t">
            <a:spAutoFit/>
          </a:bodyPr>
          <a:lstStyle/>
          <a:p>
            <a:pPr algn="l"/>
            <a:r>
              <a:rPr sz="1600" b="0" i="0">
                <a:solidFill>
                  <a:srgbClr val="FFFFFF"/>
                </a:solidFill>
                <a:latin typeface="Calibri"/>
              </a:rPr>
              <a:t>of items are out of stock on an average day in retail worldwide</a:t>
            </a:r>
          </a:p>
        </p:txBody>
      </p:sp>
      <p:sp>
        <p:nvSpPr>
          <p:cNvPr id="18" name="TextBox 17"/>
          <p:cNvSpPr txBox="1"/>
          <p:nvPr/>
        </p:nvSpPr>
        <p:spPr>
          <a:xfrm>
            <a:off x="8549640" y="4343400"/>
            <a:ext cx="2926080" cy="274320"/>
          </a:xfrm>
          <a:prstGeom prst="rect">
            <a:avLst/>
          </a:prstGeom>
          <a:noFill/>
        </p:spPr>
        <p:txBody>
          <a:bodyPr wrap="square" lIns="0" tIns="0" rIns="0" bIns="0" anchor="t">
            <a:spAutoFit/>
          </a:bodyPr>
          <a:lstStyle/>
          <a:p>
            <a:pPr algn="l"/>
            <a:r>
              <a:rPr sz="1100" b="0" i="1">
                <a:solidFill>
                  <a:srgbClr val="C9D6E3"/>
                </a:solidFill>
                <a:latin typeface="Calibri"/>
              </a:rPr>
              <a:t>Gruen, Corsten &amp; Bharadwaj (2002)</a:t>
            </a:r>
          </a:p>
        </p:txBody>
      </p:sp>
      <p:sp>
        <p:nvSpPr>
          <p:cNvPr id="19" name="Rounded Rectangle 18"/>
          <p:cNvSpPr/>
          <p:nvPr/>
        </p:nvSpPr>
        <p:spPr>
          <a:xfrm>
            <a:off x="548640" y="5120640"/>
            <a:ext cx="11109960" cy="1005840"/>
          </a:xfrm>
          <a:prstGeom prst="roundRect">
            <a:avLst>
              <a:gd name="adj" fmla="val 8000"/>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22960" y="5285232"/>
            <a:ext cx="10607040" cy="731520"/>
          </a:xfrm>
          <a:prstGeom prst="rect">
            <a:avLst/>
          </a:prstGeom>
          <a:noFill/>
        </p:spPr>
        <p:txBody>
          <a:bodyPr wrap="square" lIns="0" tIns="0" rIns="0" bIns="0" anchor="ctr">
            <a:spAutoFit/>
          </a:bodyPr>
          <a:lstStyle/>
          <a:p>
            <a:pPr algn="l"/>
            <a:r>
              <a:rPr sz="1600" b="1" i="0">
                <a:solidFill>
                  <a:srgbClr val="1F3A5F"/>
                </a:solidFill>
                <a:latin typeface="Calibri"/>
              </a:rPr>
              <a:t>Root cause: </a:t>
            </a:r>
            <a:r>
              <a:rPr sz="1600" b="0" i="0">
                <a:solidFill>
                  <a:srgbClr val="1E242C"/>
                </a:solidFill>
                <a:latin typeface="Calibri"/>
              </a:rPr>
              <a:t>nobody knows tomorrow's demand. Rules like "order last month's sales plus a bit" ignore promotions, holidays and weekdays - so stores run short exactly when demand jumps.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47472"/>
            <a:ext cx="8686800" cy="274320"/>
          </a:xfrm>
          <a:prstGeom prst="rect">
            <a:avLst/>
          </a:prstGeom>
          <a:noFill/>
        </p:spPr>
        <p:txBody>
          <a:bodyPr wrap="square" lIns="0" tIns="0" rIns="0" bIns="0" anchor="t">
            <a:spAutoFit/>
          </a:bodyPr>
          <a:lstStyle/>
          <a:p>
            <a:pPr algn="l"/>
            <a:r>
              <a:rPr sz="1100" b="1" i="0">
                <a:solidFill>
                  <a:srgbClr val="2E8B8B"/>
                </a:solidFill>
                <a:latin typeface="Calibri"/>
              </a:rPr>
              <a:t>OBJECTIVES</a:t>
            </a:r>
          </a:p>
        </p:txBody>
      </p:sp>
      <p:sp>
        <p:nvSpPr>
          <p:cNvPr id="3" name="Title"/>
          <p:cNvSpPr txBox="1"/>
          <p:nvPr/>
        </p:nvSpPr>
        <p:spPr>
          <a:xfrm>
            <a:off x="548640" y="603504"/>
            <a:ext cx="11064240" cy="731520"/>
          </a:xfrm>
          <a:prstGeom prst="rect">
            <a:avLst/>
          </a:prstGeom>
          <a:noFill/>
        </p:spPr>
        <p:txBody>
          <a:bodyPr wrap="square" lIns="0" tIns="0" rIns="0" bIns="0" anchor="t">
            <a:spAutoFit/>
          </a:bodyPr>
          <a:lstStyle/>
          <a:p>
            <a:pPr algn="l"/>
            <a:r>
              <a:rPr sz="3000" b="1" i="0">
                <a:solidFill>
                  <a:srgbClr val="1F3A5F"/>
                </a:solidFill>
                <a:latin typeface="Cambria"/>
              </a:rPr>
              <a:t>Four objectives, each building on the last</a:t>
            </a:r>
          </a:p>
        </p:txBody>
      </p:sp>
      <p:pic>
        <p:nvPicPr>
          <p:cNvPr id="4" name="Picture 3" descr="nmims_logo.png"/>
          <p:cNvPicPr>
            <a:picLocks noChangeAspect="1"/>
          </p:cNvPicPr>
          <p:nvPr/>
        </p:nvPicPr>
        <p:blipFill>
          <a:blip r:embed="rId3"/>
          <a:stretch>
            <a:fillRect/>
          </a:stretch>
        </p:blipFill>
        <p:spPr>
          <a:xfrm>
            <a:off x="11109960" y="274320"/>
            <a:ext cx="570527" cy="566928"/>
          </a:xfrm>
          <a:prstGeom prst="rect">
            <a:avLst/>
          </a:prstGeom>
        </p:spPr>
      </p:pic>
      <p:sp>
        <p:nvSpPr>
          <p:cNvPr id="5" name="TextBox 4"/>
          <p:cNvSpPr txBox="1"/>
          <p:nvPr/>
        </p:nvSpPr>
        <p:spPr>
          <a:xfrm>
            <a:off x="548640" y="6446520"/>
            <a:ext cx="5486400" cy="228600"/>
          </a:xfrm>
          <a:prstGeom prst="rect">
            <a:avLst/>
          </a:prstGeom>
          <a:noFill/>
        </p:spPr>
        <p:txBody>
          <a:bodyPr wrap="square" lIns="0" tIns="0" rIns="0" bIns="0" anchor="t">
            <a:spAutoFit/>
          </a:bodyPr>
          <a:lstStyle/>
          <a:p>
            <a:pPr algn="l"/>
            <a:r>
              <a:rPr sz="900" b="0" i="0">
                <a:solidFill>
                  <a:srgbClr val="8A8F98"/>
                </a:solidFill>
                <a:latin typeface="Calibri"/>
              </a:rPr>
              <a:t>DemandIQ  |  NMIMS MPSTME  |  Machine Learning, Sem V</a:t>
            </a:r>
          </a:p>
        </p:txBody>
      </p:sp>
      <p:sp>
        <p:nvSpPr>
          <p:cNvPr id="6" name="TextBox 5"/>
          <p:cNvSpPr txBox="1"/>
          <p:nvPr/>
        </p:nvSpPr>
        <p:spPr>
          <a:xfrm>
            <a:off x="11155680" y="6446520"/>
            <a:ext cx="502920" cy="228600"/>
          </a:xfrm>
          <a:prstGeom prst="rect">
            <a:avLst/>
          </a:prstGeom>
          <a:noFill/>
        </p:spPr>
        <p:txBody>
          <a:bodyPr wrap="square" lIns="0" tIns="0" rIns="0" bIns="0" anchor="t">
            <a:spAutoFit/>
          </a:bodyPr>
          <a:lstStyle/>
          <a:p>
            <a:pPr algn="r"/>
            <a:r>
              <a:rPr sz="900" b="0" i="0">
                <a:solidFill>
                  <a:srgbClr val="8A8F98"/>
                </a:solidFill>
                <a:latin typeface="Calibri"/>
              </a:rPr>
              <a:t>3</a:t>
            </a:r>
          </a:p>
        </p:txBody>
      </p:sp>
      <p:sp>
        <p:nvSpPr>
          <p:cNvPr id="7" name="Rounded Rectangle 6"/>
          <p:cNvSpPr/>
          <p:nvPr/>
        </p:nvSpPr>
        <p:spPr>
          <a:xfrm>
            <a:off x="548640" y="1600200"/>
            <a:ext cx="2651760" cy="3977639"/>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822959" y="1828800"/>
            <a:ext cx="640080" cy="640080"/>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Cambria"/>
              </a:rPr>
              <a:t>1</a:t>
            </a:r>
          </a:p>
        </p:txBody>
      </p:sp>
      <p:sp>
        <p:nvSpPr>
          <p:cNvPr id="9" name="TextBox 8"/>
          <p:cNvSpPr txBox="1"/>
          <p:nvPr/>
        </p:nvSpPr>
        <p:spPr>
          <a:xfrm>
            <a:off x="822959" y="2697480"/>
            <a:ext cx="2194560" cy="731520"/>
          </a:xfrm>
          <a:prstGeom prst="rect">
            <a:avLst/>
          </a:prstGeom>
          <a:noFill/>
        </p:spPr>
        <p:txBody>
          <a:bodyPr wrap="square" lIns="0" tIns="0" rIns="0" bIns="0" anchor="t">
            <a:spAutoFit/>
          </a:bodyPr>
          <a:lstStyle/>
          <a:p>
            <a:pPr algn="l"/>
            <a:r>
              <a:rPr sz="2000" b="1" i="0">
                <a:solidFill>
                  <a:srgbClr val="1E242C"/>
                </a:solidFill>
                <a:latin typeface="Cambria"/>
              </a:rPr>
              <a:t>Predict demand</a:t>
            </a:r>
          </a:p>
        </p:txBody>
      </p:sp>
      <p:sp>
        <p:nvSpPr>
          <p:cNvPr id="10" name="TextBox 9"/>
          <p:cNvSpPr txBox="1"/>
          <p:nvPr/>
        </p:nvSpPr>
        <p:spPr>
          <a:xfrm>
            <a:off x="822959" y="3429000"/>
            <a:ext cx="2148840" cy="1280160"/>
          </a:xfrm>
          <a:prstGeom prst="rect">
            <a:avLst/>
          </a:prstGeom>
          <a:noFill/>
        </p:spPr>
        <p:txBody>
          <a:bodyPr wrap="square" lIns="0" tIns="0" rIns="0" bIns="0" anchor="t">
            <a:spAutoFit/>
          </a:bodyPr>
          <a:lstStyle/>
          <a:p>
            <a:pPr algn="l"/>
            <a:r>
              <a:rPr sz="1500" b="0" i="0">
                <a:solidFill>
                  <a:srgbClr val="1E242C"/>
                </a:solidFill>
                <a:latin typeface="Calibri"/>
              </a:rPr>
              <a:t>Daily sales per store for the next 7 days, with a P10-P90 range</a:t>
            </a:r>
          </a:p>
        </p:txBody>
      </p:sp>
      <p:sp>
        <p:nvSpPr>
          <p:cNvPr id="11" name="Rounded Rectangle 10"/>
          <p:cNvSpPr/>
          <p:nvPr/>
        </p:nvSpPr>
        <p:spPr>
          <a:xfrm>
            <a:off x="731520" y="4709160"/>
            <a:ext cx="2286000" cy="6858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68680" y="4754880"/>
            <a:ext cx="2057400" cy="594360"/>
          </a:xfrm>
          <a:prstGeom prst="rect">
            <a:avLst/>
          </a:prstGeom>
          <a:noFill/>
        </p:spPr>
        <p:txBody>
          <a:bodyPr wrap="square" lIns="0" tIns="0" rIns="0" bIns="0" anchor="ctr">
            <a:spAutoFit/>
          </a:bodyPr>
          <a:lstStyle/>
          <a:p>
            <a:pPr algn="l"/>
            <a:r>
              <a:rPr sz="1300" b="1" i="0">
                <a:solidFill>
                  <a:srgbClr val="1F3A5F"/>
                </a:solidFill>
                <a:latin typeface="Calibri"/>
              </a:rPr>
              <a:t>e.g. store 262, Mon 1 Jun: 24,078</a:t>
            </a:r>
          </a:p>
        </p:txBody>
      </p:sp>
      <p:sp>
        <p:nvSpPr>
          <p:cNvPr id="13" name="Rounded Rectangle 12"/>
          <p:cNvSpPr/>
          <p:nvPr/>
        </p:nvSpPr>
        <p:spPr>
          <a:xfrm>
            <a:off x="3383280" y="1600200"/>
            <a:ext cx="2651760" cy="3977639"/>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3657600" y="1828800"/>
            <a:ext cx="640080" cy="640080"/>
          </a:xfrm>
          <a:prstGeom prst="ellipse">
            <a:avLst/>
          </a:prstGeom>
          <a:solidFill>
            <a:srgbClr val="B23A4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Cambria"/>
              </a:rPr>
              <a:t>2</a:t>
            </a:r>
          </a:p>
        </p:txBody>
      </p:sp>
      <p:sp>
        <p:nvSpPr>
          <p:cNvPr id="15" name="TextBox 14"/>
          <p:cNvSpPr txBox="1"/>
          <p:nvPr/>
        </p:nvSpPr>
        <p:spPr>
          <a:xfrm>
            <a:off x="3657600" y="2697480"/>
            <a:ext cx="2194560" cy="731520"/>
          </a:xfrm>
          <a:prstGeom prst="rect">
            <a:avLst/>
          </a:prstGeom>
          <a:noFill/>
        </p:spPr>
        <p:txBody>
          <a:bodyPr wrap="square" lIns="0" tIns="0" rIns="0" bIns="0" anchor="t">
            <a:spAutoFit/>
          </a:bodyPr>
          <a:lstStyle/>
          <a:p>
            <a:pPr algn="l"/>
            <a:r>
              <a:rPr sz="2000" b="1" i="0">
                <a:solidFill>
                  <a:srgbClr val="1E242C"/>
                </a:solidFill>
                <a:latin typeface="Cambria"/>
              </a:rPr>
              <a:t>Predict stockout risk</a:t>
            </a:r>
          </a:p>
        </p:txBody>
      </p:sp>
      <p:sp>
        <p:nvSpPr>
          <p:cNvPr id="16" name="TextBox 15"/>
          <p:cNvSpPr txBox="1"/>
          <p:nvPr/>
        </p:nvSpPr>
        <p:spPr>
          <a:xfrm>
            <a:off x="3657600" y="3429000"/>
            <a:ext cx="2148840" cy="1280160"/>
          </a:xfrm>
          <a:prstGeom prst="rect">
            <a:avLst/>
          </a:prstGeom>
          <a:noFill/>
        </p:spPr>
        <p:txBody>
          <a:bodyPr wrap="square" lIns="0" tIns="0" rIns="0" bIns="0" anchor="t">
            <a:spAutoFit/>
          </a:bodyPr>
          <a:lstStyle/>
          <a:p>
            <a:pPr algn="l"/>
            <a:r>
              <a:rPr sz="1500" b="0" i="0">
                <a:solidFill>
                  <a:srgbClr val="1E242C"/>
                </a:solidFill>
                <a:latin typeface="Calibri"/>
              </a:rPr>
              <a:t>Probability of running out in the next 3 days</a:t>
            </a:r>
          </a:p>
        </p:txBody>
      </p:sp>
      <p:sp>
        <p:nvSpPr>
          <p:cNvPr id="17" name="Rounded Rectangle 16"/>
          <p:cNvSpPr/>
          <p:nvPr/>
        </p:nvSpPr>
        <p:spPr>
          <a:xfrm>
            <a:off x="3566160" y="4709160"/>
            <a:ext cx="2286000" cy="6858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3703320" y="4754880"/>
            <a:ext cx="2057400" cy="594360"/>
          </a:xfrm>
          <a:prstGeom prst="rect">
            <a:avLst/>
          </a:prstGeom>
          <a:noFill/>
        </p:spPr>
        <p:txBody>
          <a:bodyPr wrap="square" lIns="0" tIns="0" rIns="0" bIns="0" anchor="ctr">
            <a:spAutoFit/>
          </a:bodyPr>
          <a:lstStyle/>
          <a:p>
            <a:pPr algn="l"/>
            <a:r>
              <a:rPr sz="1300" b="1" i="0">
                <a:solidFill>
                  <a:srgbClr val="B23A48"/>
                </a:solidFill>
                <a:latin typeface="Calibri"/>
              </a:rPr>
              <a:t>e.g. store 122: 30% → MEDIUM</a:t>
            </a:r>
          </a:p>
        </p:txBody>
      </p:sp>
      <p:sp>
        <p:nvSpPr>
          <p:cNvPr id="19" name="Rounded Rectangle 18"/>
          <p:cNvSpPr/>
          <p:nvPr/>
        </p:nvSpPr>
        <p:spPr>
          <a:xfrm>
            <a:off x="6217920" y="1600200"/>
            <a:ext cx="2651760" cy="3977639"/>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6492240" y="1828800"/>
            <a:ext cx="640080" cy="640080"/>
          </a:xfrm>
          <a:prstGeom prst="ellipse">
            <a:avLst/>
          </a:prstGeom>
          <a:solidFill>
            <a:srgbClr val="D98E0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Cambria"/>
              </a:rPr>
              <a:t>3</a:t>
            </a:r>
          </a:p>
        </p:txBody>
      </p:sp>
      <p:sp>
        <p:nvSpPr>
          <p:cNvPr id="21" name="TextBox 20"/>
          <p:cNvSpPr txBox="1"/>
          <p:nvPr/>
        </p:nvSpPr>
        <p:spPr>
          <a:xfrm>
            <a:off x="6492240" y="2697480"/>
            <a:ext cx="2194560" cy="731520"/>
          </a:xfrm>
          <a:prstGeom prst="rect">
            <a:avLst/>
          </a:prstGeom>
          <a:noFill/>
        </p:spPr>
        <p:txBody>
          <a:bodyPr wrap="square" lIns="0" tIns="0" rIns="0" bIns="0" anchor="t">
            <a:spAutoFit/>
          </a:bodyPr>
          <a:lstStyle/>
          <a:p>
            <a:pPr algn="l"/>
            <a:r>
              <a:rPr sz="2000" b="1" i="0">
                <a:solidFill>
                  <a:srgbClr val="1E242C"/>
                </a:solidFill>
                <a:latin typeface="Cambria"/>
              </a:rPr>
              <a:t>Recommend the order</a:t>
            </a:r>
          </a:p>
        </p:txBody>
      </p:sp>
      <p:sp>
        <p:nvSpPr>
          <p:cNvPr id="22" name="TextBox 21"/>
          <p:cNvSpPr txBox="1"/>
          <p:nvPr/>
        </p:nvSpPr>
        <p:spPr>
          <a:xfrm>
            <a:off x="6492240" y="3429000"/>
            <a:ext cx="2148840" cy="1280160"/>
          </a:xfrm>
          <a:prstGeom prst="rect">
            <a:avLst/>
          </a:prstGeom>
          <a:noFill/>
        </p:spPr>
        <p:txBody>
          <a:bodyPr wrap="square" lIns="0" tIns="0" rIns="0" bIns="0" anchor="t">
            <a:spAutoFit/>
          </a:bodyPr>
          <a:lstStyle/>
          <a:p>
            <a:pPr algn="l"/>
            <a:r>
              <a:rPr sz="1500" b="0" i="0">
                <a:solidFill>
                  <a:srgbClr val="1E242C"/>
                </a:solidFill>
                <a:latin typeface="Calibri"/>
              </a:rPr>
              <a:t>Order-up-to level from forecast + uncertainty; emergency order if risk is high</a:t>
            </a:r>
          </a:p>
        </p:txBody>
      </p:sp>
      <p:sp>
        <p:nvSpPr>
          <p:cNvPr id="23" name="Rounded Rectangle 22"/>
          <p:cNvSpPr/>
          <p:nvPr/>
        </p:nvSpPr>
        <p:spPr>
          <a:xfrm>
            <a:off x="6400800" y="4709160"/>
            <a:ext cx="2286000" cy="6858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537959" y="4754880"/>
            <a:ext cx="2057400" cy="594360"/>
          </a:xfrm>
          <a:prstGeom prst="rect">
            <a:avLst/>
          </a:prstGeom>
          <a:noFill/>
        </p:spPr>
        <p:txBody>
          <a:bodyPr wrap="square" lIns="0" tIns="0" rIns="0" bIns="0" anchor="ctr">
            <a:spAutoFit/>
          </a:bodyPr>
          <a:lstStyle/>
          <a:p>
            <a:pPr algn="l"/>
            <a:r>
              <a:rPr sz="1300" b="1" i="0">
                <a:solidFill>
                  <a:srgbClr val="D98E04"/>
                </a:solidFill>
                <a:latin typeface="Calibri"/>
              </a:rPr>
              <a:t>e.g. order up to 26,856</a:t>
            </a:r>
          </a:p>
        </p:txBody>
      </p:sp>
      <p:sp>
        <p:nvSpPr>
          <p:cNvPr id="25" name="Rounded Rectangle 24"/>
          <p:cNvSpPr/>
          <p:nvPr/>
        </p:nvSpPr>
        <p:spPr>
          <a:xfrm>
            <a:off x="9052560" y="1600200"/>
            <a:ext cx="2651760" cy="3977639"/>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9326880" y="1828800"/>
            <a:ext cx="640080" cy="640080"/>
          </a:xfrm>
          <a:prstGeom prst="ellipse">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Cambria"/>
              </a:rPr>
              <a:t>4</a:t>
            </a:r>
          </a:p>
        </p:txBody>
      </p:sp>
      <p:sp>
        <p:nvSpPr>
          <p:cNvPr id="27" name="TextBox 26"/>
          <p:cNvSpPr txBox="1"/>
          <p:nvPr/>
        </p:nvSpPr>
        <p:spPr>
          <a:xfrm>
            <a:off x="9326880" y="2697480"/>
            <a:ext cx="2194560" cy="731520"/>
          </a:xfrm>
          <a:prstGeom prst="rect">
            <a:avLst/>
          </a:prstGeom>
          <a:noFill/>
        </p:spPr>
        <p:txBody>
          <a:bodyPr wrap="square" lIns="0" tIns="0" rIns="0" bIns="0" anchor="t">
            <a:spAutoFit/>
          </a:bodyPr>
          <a:lstStyle/>
          <a:p>
            <a:pPr algn="l"/>
            <a:r>
              <a:rPr sz="2000" b="1" i="0">
                <a:solidFill>
                  <a:srgbClr val="1E242C"/>
                </a:solidFill>
                <a:latin typeface="Cambria"/>
              </a:rPr>
              <a:t>Explain + what-if</a:t>
            </a:r>
          </a:p>
        </p:txBody>
      </p:sp>
      <p:sp>
        <p:nvSpPr>
          <p:cNvPr id="28" name="TextBox 27"/>
          <p:cNvSpPr txBox="1"/>
          <p:nvPr/>
        </p:nvSpPr>
        <p:spPr>
          <a:xfrm>
            <a:off x="9326880" y="3429000"/>
            <a:ext cx="2148840" cy="1280160"/>
          </a:xfrm>
          <a:prstGeom prst="rect">
            <a:avLst/>
          </a:prstGeom>
          <a:noFill/>
        </p:spPr>
        <p:txBody>
          <a:bodyPr wrap="square" lIns="0" tIns="0" rIns="0" bIns="0" anchor="t">
            <a:spAutoFit/>
          </a:bodyPr>
          <a:lstStyle/>
          <a:p>
            <a:pPr algn="l"/>
            <a:r>
              <a:rPr sz="1500" b="0" i="0">
                <a:solidFill>
                  <a:srgbClr val="1E242C"/>
                </a:solidFill>
                <a:latin typeface="Calibri"/>
              </a:rPr>
              <a:t>SHAP reasons for every number; test promotion, holiday, competitor, price</a:t>
            </a:r>
          </a:p>
        </p:txBody>
      </p:sp>
      <p:sp>
        <p:nvSpPr>
          <p:cNvPr id="29" name="Rounded Rectangle 28"/>
          <p:cNvSpPr/>
          <p:nvPr/>
        </p:nvSpPr>
        <p:spPr>
          <a:xfrm>
            <a:off x="9235440" y="4709160"/>
            <a:ext cx="2286000" cy="6858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9372600" y="4754880"/>
            <a:ext cx="2057400" cy="594360"/>
          </a:xfrm>
          <a:prstGeom prst="rect">
            <a:avLst/>
          </a:prstGeom>
          <a:noFill/>
        </p:spPr>
        <p:txBody>
          <a:bodyPr wrap="square" lIns="0" tIns="0" rIns="0" bIns="0" anchor="ctr">
            <a:spAutoFit/>
          </a:bodyPr>
          <a:lstStyle/>
          <a:p>
            <a:pPr algn="l"/>
            <a:r>
              <a:rPr sz="1300" b="1" i="0">
                <a:solidFill>
                  <a:srgbClr val="2E8B8B"/>
                </a:solidFill>
                <a:latin typeface="Calibri"/>
              </a:rPr>
              <a:t>e.g. promotion: +29% to +45%</a:t>
            </a:r>
          </a:p>
        </p:txBody>
      </p:sp>
      <p:sp>
        <p:nvSpPr>
          <p:cNvPr id="31" name="TextBox 30"/>
          <p:cNvSpPr txBox="1"/>
          <p:nvPr/>
        </p:nvSpPr>
        <p:spPr>
          <a:xfrm>
            <a:off x="548640" y="5806440"/>
            <a:ext cx="10972800" cy="365760"/>
          </a:xfrm>
          <a:prstGeom prst="rect">
            <a:avLst/>
          </a:prstGeom>
          <a:noFill/>
        </p:spPr>
        <p:txBody>
          <a:bodyPr wrap="square" lIns="0" tIns="0" rIns="0" bIns="0" anchor="t">
            <a:spAutoFit/>
          </a:bodyPr>
          <a:lstStyle/>
          <a:p>
            <a:pPr algn="l"/>
            <a:r>
              <a:rPr sz="1500" b="0" i="1">
                <a:solidFill>
                  <a:srgbClr val="5A6270"/>
                </a:solidFill>
                <a:latin typeface="Calibri"/>
              </a:rPr>
              <a:t>Supporting objective: group the 935 stores into segments with K-Means so one plan does not have to fit all.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47472"/>
            <a:ext cx="8686800" cy="274320"/>
          </a:xfrm>
          <a:prstGeom prst="rect">
            <a:avLst/>
          </a:prstGeom>
          <a:noFill/>
        </p:spPr>
        <p:txBody>
          <a:bodyPr wrap="square" lIns="0" tIns="0" rIns="0" bIns="0" anchor="t">
            <a:spAutoFit/>
          </a:bodyPr>
          <a:lstStyle/>
          <a:p>
            <a:pPr algn="l"/>
            <a:r>
              <a:rPr sz="1100" b="1" i="0">
                <a:solidFill>
                  <a:srgbClr val="2E8B8B"/>
                </a:solidFill>
                <a:latin typeface="Calibri"/>
              </a:rPr>
              <a:t>LITERATURE SURVEY</a:t>
            </a:r>
          </a:p>
        </p:txBody>
      </p:sp>
      <p:sp>
        <p:nvSpPr>
          <p:cNvPr id="3" name="Title"/>
          <p:cNvSpPr txBox="1"/>
          <p:nvPr/>
        </p:nvSpPr>
        <p:spPr>
          <a:xfrm>
            <a:off x="548640" y="603504"/>
            <a:ext cx="11064240" cy="731520"/>
          </a:xfrm>
          <a:prstGeom prst="rect">
            <a:avLst/>
          </a:prstGeom>
          <a:noFill/>
        </p:spPr>
        <p:txBody>
          <a:bodyPr wrap="square" lIns="0" tIns="0" rIns="0" bIns="0" anchor="t">
            <a:spAutoFit/>
          </a:bodyPr>
          <a:lstStyle/>
          <a:p>
            <a:pPr algn="l"/>
            <a:r>
              <a:rPr sz="3000" b="1" i="0">
                <a:solidFill>
                  <a:srgbClr val="1F3A5F"/>
                </a:solidFill>
                <a:latin typeface="Cambria"/>
              </a:rPr>
              <a:t>What 20 books and 15 research papers told us</a:t>
            </a:r>
          </a:p>
        </p:txBody>
      </p:sp>
      <p:pic>
        <p:nvPicPr>
          <p:cNvPr id="4" name="Picture 3" descr="nmims_logo.png"/>
          <p:cNvPicPr>
            <a:picLocks noChangeAspect="1"/>
          </p:cNvPicPr>
          <p:nvPr/>
        </p:nvPicPr>
        <p:blipFill>
          <a:blip r:embed="rId3"/>
          <a:stretch>
            <a:fillRect/>
          </a:stretch>
        </p:blipFill>
        <p:spPr>
          <a:xfrm>
            <a:off x="11109960" y="274320"/>
            <a:ext cx="570527" cy="566928"/>
          </a:xfrm>
          <a:prstGeom prst="rect">
            <a:avLst/>
          </a:prstGeom>
        </p:spPr>
      </p:pic>
      <p:sp>
        <p:nvSpPr>
          <p:cNvPr id="5" name="TextBox 4"/>
          <p:cNvSpPr txBox="1"/>
          <p:nvPr/>
        </p:nvSpPr>
        <p:spPr>
          <a:xfrm>
            <a:off x="548640" y="6446520"/>
            <a:ext cx="5486400" cy="228600"/>
          </a:xfrm>
          <a:prstGeom prst="rect">
            <a:avLst/>
          </a:prstGeom>
          <a:noFill/>
        </p:spPr>
        <p:txBody>
          <a:bodyPr wrap="square" lIns="0" tIns="0" rIns="0" bIns="0" anchor="t">
            <a:spAutoFit/>
          </a:bodyPr>
          <a:lstStyle/>
          <a:p>
            <a:pPr algn="l"/>
            <a:r>
              <a:rPr sz="900" b="0" i="0">
                <a:solidFill>
                  <a:srgbClr val="8A8F98"/>
                </a:solidFill>
                <a:latin typeface="Calibri"/>
              </a:rPr>
              <a:t>DemandIQ  |  NMIMS MPSTME  |  Machine Learning, Sem V</a:t>
            </a:r>
          </a:p>
        </p:txBody>
      </p:sp>
      <p:sp>
        <p:nvSpPr>
          <p:cNvPr id="6" name="TextBox 5"/>
          <p:cNvSpPr txBox="1"/>
          <p:nvPr/>
        </p:nvSpPr>
        <p:spPr>
          <a:xfrm>
            <a:off x="11155680" y="6446520"/>
            <a:ext cx="502920" cy="228600"/>
          </a:xfrm>
          <a:prstGeom prst="rect">
            <a:avLst/>
          </a:prstGeom>
          <a:noFill/>
        </p:spPr>
        <p:txBody>
          <a:bodyPr wrap="square" lIns="0" tIns="0" rIns="0" bIns="0" anchor="t">
            <a:spAutoFit/>
          </a:bodyPr>
          <a:lstStyle/>
          <a:p>
            <a:pPr algn="r"/>
            <a:r>
              <a:rPr sz="900" b="0" i="0">
                <a:solidFill>
                  <a:srgbClr val="8A8F98"/>
                </a:solidFill>
                <a:latin typeface="Calibri"/>
              </a:rPr>
              <a:t>4</a:t>
            </a:r>
          </a:p>
        </p:txBody>
      </p:sp>
      <p:sp>
        <p:nvSpPr>
          <p:cNvPr id="7" name="Rounded Rectangle 6"/>
          <p:cNvSpPr/>
          <p:nvPr/>
        </p:nvSpPr>
        <p:spPr>
          <a:xfrm>
            <a:off x="548640" y="1600200"/>
            <a:ext cx="3291840" cy="2011680"/>
          </a:xfrm>
          <a:prstGeom prst="roundRect">
            <a:avLst>
              <a:gd name="adj" fmla="val 8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22960" y="1783080"/>
            <a:ext cx="2743200" cy="914400"/>
          </a:xfrm>
          <a:prstGeom prst="rect">
            <a:avLst/>
          </a:prstGeom>
          <a:noFill/>
        </p:spPr>
        <p:txBody>
          <a:bodyPr wrap="square" lIns="0" tIns="0" rIns="0" bIns="0" anchor="t">
            <a:spAutoFit/>
          </a:bodyPr>
          <a:lstStyle/>
          <a:p>
            <a:pPr algn="l"/>
            <a:r>
              <a:rPr sz="5400" b="1" i="0">
                <a:solidFill>
                  <a:srgbClr val="FFFFFF"/>
                </a:solidFill>
                <a:latin typeface="Cambria"/>
              </a:rPr>
              <a:t>20</a:t>
            </a:r>
          </a:p>
        </p:txBody>
      </p:sp>
      <p:sp>
        <p:nvSpPr>
          <p:cNvPr id="9" name="TextBox 8"/>
          <p:cNvSpPr txBox="1"/>
          <p:nvPr/>
        </p:nvSpPr>
        <p:spPr>
          <a:xfrm>
            <a:off x="822960" y="2651760"/>
            <a:ext cx="2834640" cy="868680"/>
          </a:xfrm>
          <a:prstGeom prst="rect">
            <a:avLst/>
          </a:prstGeom>
          <a:noFill/>
        </p:spPr>
        <p:txBody>
          <a:bodyPr wrap="square" lIns="0" tIns="0" rIns="0" bIns="0" anchor="t">
            <a:spAutoFit/>
          </a:bodyPr>
          <a:lstStyle/>
          <a:p>
            <a:pPr algn="l"/>
            <a:r>
              <a:rPr sz="1300" b="0" i="0">
                <a:solidFill>
                  <a:srgbClr val="FFFFFF"/>
                </a:solidFill>
                <a:latin typeface="Calibri"/>
              </a:rPr>
              <a:t>reference books
forecasting, inventory theory,
ML, explainability, causality</a:t>
            </a:r>
          </a:p>
        </p:txBody>
      </p:sp>
      <p:sp>
        <p:nvSpPr>
          <p:cNvPr id="10" name="Rounded Rectangle 9"/>
          <p:cNvSpPr/>
          <p:nvPr/>
        </p:nvSpPr>
        <p:spPr>
          <a:xfrm>
            <a:off x="548640" y="3840480"/>
            <a:ext cx="3291840" cy="2011680"/>
          </a:xfrm>
          <a:prstGeom prst="roundRect">
            <a:avLst>
              <a:gd name="adj" fmla="val 8000"/>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22960" y="4023360"/>
            <a:ext cx="2743200" cy="914400"/>
          </a:xfrm>
          <a:prstGeom prst="rect">
            <a:avLst/>
          </a:prstGeom>
          <a:noFill/>
        </p:spPr>
        <p:txBody>
          <a:bodyPr wrap="square" lIns="0" tIns="0" rIns="0" bIns="0" anchor="t">
            <a:spAutoFit/>
          </a:bodyPr>
          <a:lstStyle/>
          <a:p>
            <a:pPr algn="l"/>
            <a:r>
              <a:rPr sz="5400" b="1" i="0">
                <a:solidFill>
                  <a:srgbClr val="FFFFFF"/>
                </a:solidFill>
                <a:latin typeface="Cambria"/>
              </a:rPr>
              <a:t>15</a:t>
            </a:r>
          </a:p>
        </p:txBody>
      </p:sp>
      <p:sp>
        <p:nvSpPr>
          <p:cNvPr id="12" name="TextBox 11"/>
          <p:cNvSpPr txBox="1"/>
          <p:nvPr/>
        </p:nvSpPr>
        <p:spPr>
          <a:xfrm>
            <a:off x="822960" y="4892040"/>
            <a:ext cx="2834640" cy="868680"/>
          </a:xfrm>
          <a:prstGeom prst="rect">
            <a:avLst/>
          </a:prstGeom>
          <a:noFill/>
        </p:spPr>
        <p:txBody>
          <a:bodyPr wrap="square" lIns="0" tIns="0" rIns="0" bIns="0" anchor="t">
            <a:spAutoFit/>
          </a:bodyPr>
          <a:lstStyle/>
          <a:p>
            <a:pPr algn="l"/>
            <a:r>
              <a:rPr sz="1300" b="0" i="0">
                <a:solidFill>
                  <a:srgbClr val="FFFFFF"/>
                </a:solidFill>
                <a:latin typeface="Calibri"/>
              </a:rPr>
              <a:t>research papers
mostly 2019 - 2026,
IJF, EJOR, NeurIPS, IEEE Access</a:t>
            </a:r>
          </a:p>
        </p:txBody>
      </p:sp>
      <p:sp>
        <p:nvSpPr>
          <p:cNvPr id="13" name="Oval 12"/>
          <p:cNvSpPr/>
          <p:nvPr/>
        </p:nvSpPr>
        <p:spPr>
          <a:xfrm>
            <a:off x="4206240" y="1709928"/>
            <a:ext cx="457200" cy="457200"/>
          </a:xfrm>
          <a:prstGeom prst="ellipse">
            <a:avLst/>
          </a:prstGeom>
          <a:solidFill>
            <a:srgbClr val="D98E0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mbria"/>
              </a:rPr>
              <a:t>1</a:t>
            </a:r>
          </a:p>
        </p:txBody>
      </p:sp>
      <p:sp>
        <p:nvSpPr>
          <p:cNvPr id="14" name="TextBox 13"/>
          <p:cNvSpPr txBox="1"/>
          <p:nvPr/>
        </p:nvSpPr>
        <p:spPr>
          <a:xfrm>
            <a:off x="4846320" y="1645920"/>
            <a:ext cx="6766560" cy="320040"/>
          </a:xfrm>
          <a:prstGeom prst="rect">
            <a:avLst/>
          </a:prstGeom>
          <a:noFill/>
        </p:spPr>
        <p:txBody>
          <a:bodyPr wrap="square" lIns="0" tIns="0" rIns="0" bIns="0" anchor="t">
            <a:spAutoFit/>
          </a:bodyPr>
          <a:lstStyle/>
          <a:p>
            <a:pPr algn="l"/>
            <a:r>
              <a:rPr sz="1700" b="1" i="0">
                <a:solidFill>
                  <a:srgbClr val="1E242C"/>
                </a:solidFill>
                <a:latin typeface="Calibri"/>
              </a:rPr>
              <a:t>ML beats statistics on retail data</a:t>
            </a:r>
          </a:p>
        </p:txBody>
      </p:sp>
      <p:sp>
        <p:nvSpPr>
          <p:cNvPr id="15" name="TextBox 14"/>
          <p:cNvSpPr txBox="1"/>
          <p:nvPr/>
        </p:nvSpPr>
        <p:spPr>
          <a:xfrm>
            <a:off x="4846320" y="1993392"/>
            <a:ext cx="6766560" cy="320040"/>
          </a:xfrm>
          <a:prstGeom prst="rect">
            <a:avLst/>
          </a:prstGeom>
          <a:noFill/>
        </p:spPr>
        <p:txBody>
          <a:bodyPr wrap="square" lIns="0" tIns="0" rIns="0" bIns="0" anchor="t">
            <a:spAutoFit/>
          </a:bodyPr>
          <a:lstStyle/>
          <a:p>
            <a:pPr algn="l"/>
            <a:r>
              <a:rPr sz="1400" b="0" i="0">
                <a:solidFill>
                  <a:srgbClr val="5A6270"/>
                </a:solidFill>
                <a:latin typeface="Calibri"/>
              </a:rPr>
              <a:t>M5 competition: LightGBM-based methods won on Walmart data   </a:t>
            </a:r>
            <a:r>
              <a:rPr sz="1200" b="0" i="1">
                <a:solidFill>
                  <a:srgbClr val="8A8F98"/>
                </a:solidFill>
                <a:latin typeface="Calibri"/>
              </a:rPr>
              <a:t>Makridakis et al., 2022</a:t>
            </a:r>
          </a:p>
        </p:txBody>
      </p:sp>
      <p:sp>
        <p:nvSpPr>
          <p:cNvPr id="16" name="Oval 15"/>
          <p:cNvSpPr/>
          <p:nvPr/>
        </p:nvSpPr>
        <p:spPr>
          <a:xfrm>
            <a:off x="4206240" y="2532888"/>
            <a:ext cx="457200" cy="457200"/>
          </a:xfrm>
          <a:prstGeom prst="ellipse">
            <a:avLst/>
          </a:prstGeom>
          <a:solidFill>
            <a:srgbClr val="D98E0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mbria"/>
              </a:rPr>
              <a:t>2</a:t>
            </a:r>
          </a:p>
        </p:txBody>
      </p:sp>
      <p:sp>
        <p:nvSpPr>
          <p:cNvPr id="17" name="TextBox 16"/>
          <p:cNvSpPr txBox="1"/>
          <p:nvPr/>
        </p:nvSpPr>
        <p:spPr>
          <a:xfrm>
            <a:off x="4846320" y="2468879"/>
            <a:ext cx="6766560" cy="320040"/>
          </a:xfrm>
          <a:prstGeom prst="rect">
            <a:avLst/>
          </a:prstGeom>
          <a:noFill/>
        </p:spPr>
        <p:txBody>
          <a:bodyPr wrap="square" lIns="0" tIns="0" rIns="0" bIns="0" anchor="t">
            <a:spAutoFit/>
          </a:bodyPr>
          <a:lstStyle/>
          <a:p>
            <a:pPr algn="l"/>
            <a:r>
              <a:rPr sz="1700" b="1" i="0">
                <a:solidFill>
                  <a:srgbClr val="1E242C"/>
                </a:solidFill>
                <a:latin typeface="Calibri"/>
              </a:rPr>
              <a:t>Promotions and special days need explicit features</a:t>
            </a:r>
          </a:p>
        </p:txBody>
      </p:sp>
      <p:sp>
        <p:nvSpPr>
          <p:cNvPr id="18" name="TextBox 17"/>
          <p:cNvSpPr txBox="1"/>
          <p:nvPr/>
        </p:nvSpPr>
        <p:spPr>
          <a:xfrm>
            <a:off x="4846320" y="2816352"/>
            <a:ext cx="6766560" cy="320040"/>
          </a:xfrm>
          <a:prstGeom prst="rect">
            <a:avLst/>
          </a:prstGeom>
          <a:noFill/>
        </p:spPr>
        <p:txBody>
          <a:bodyPr wrap="square" lIns="0" tIns="0" rIns="0" bIns="0" anchor="t">
            <a:spAutoFit/>
          </a:bodyPr>
          <a:lstStyle/>
          <a:p>
            <a:pPr algn="l"/>
            <a:r>
              <a:rPr sz="1400" b="0" i="0">
                <a:solidFill>
                  <a:srgbClr val="5A6270"/>
                </a:solidFill>
                <a:latin typeface="Calibri"/>
              </a:rPr>
              <a:t>Regression trees with promo flags; calendar special days   </a:t>
            </a:r>
            <a:r>
              <a:rPr sz="1200" b="0" i="1">
                <a:solidFill>
                  <a:srgbClr val="8A8F98"/>
                </a:solidFill>
                <a:latin typeface="Calibri"/>
              </a:rPr>
              <a:t>Gür Ali 2009; Huber 2020</a:t>
            </a:r>
          </a:p>
        </p:txBody>
      </p:sp>
      <p:sp>
        <p:nvSpPr>
          <p:cNvPr id="19" name="Oval 18"/>
          <p:cNvSpPr/>
          <p:nvPr/>
        </p:nvSpPr>
        <p:spPr>
          <a:xfrm>
            <a:off x="4206240" y="3355848"/>
            <a:ext cx="457200" cy="457200"/>
          </a:xfrm>
          <a:prstGeom prst="ellipse">
            <a:avLst/>
          </a:prstGeom>
          <a:solidFill>
            <a:srgbClr val="D98E0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mbria"/>
              </a:rPr>
              <a:t>3</a:t>
            </a:r>
          </a:p>
        </p:txBody>
      </p:sp>
      <p:sp>
        <p:nvSpPr>
          <p:cNvPr id="20" name="TextBox 19"/>
          <p:cNvSpPr txBox="1"/>
          <p:nvPr/>
        </p:nvSpPr>
        <p:spPr>
          <a:xfrm>
            <a:off x="4846320" y="3291839"/>
            <a:ext cx="6766560" cy="320040"/>
          </a:xfrm>
          <a:prstGeom prst="rect">
            <a:avLst/>
          </a:prstGeom>
          <a:noFill/>
        </p:spPr>
        <p:txBody>
          <a:bodyPr wrap="square" lIns="0" tIns="0" rIns="0" bIns="0" anchor="t">
            <a:spAutoFit/>
          </a:bodyPr>
          <a:lstStyle/>
          <a:p>
            <a:pPr algn="l"/>
            <a:r>
              <a:rPr sz="1700" b="1" i="0">
                <a:solidFill>
                  <a:srgbClr val="1E242C"/>
                </a:solidFill>
                <a:latin typeface="Calibri"/>
              </a:rPr>
              <a:t>Stockout prediction is rare - and needs stock + forecast</a:t>
            </a:r>
          </a:p>
        </p:txBody>
      </p:sp>
      <p:sp>
        <p:nvSpPr>
          <p:cNvPr id="21" name="TextBox 20"/>
          <p:cNvSpPr txBox="1"/>
          <p:nvPr/>
        </p:nvSpPr>
        <p:spPr>
          <a:xfrm>
            <a:off x="4846320" y="3639312"/>
            <a:ext cx="6766560" cy="320040"/>
          </a:xfrm>
          <a:prstGeom prst="rect">
            <a:avLst/>
          </a:prstGeom>
          <a:noFill/>
        </p:spPr>
        <p:txBody>
          <a:bodyPr wrap="square" lIns="0" tIns="0" rIns="0" bIns="0" anchor="t">
            <a:spAutoFit/>
          </a:bodyPr>
          <a:lstStyle/>
          <a:p>
            <a:pPr algn="l"/>
            <a:r>
              <a:rPr sz="1400" b="0" i="0">
                <a:solidFill>
                  <a:srgbClr val="5A6270"/>
                </a:solidFill>
                <a:latin typeface="Calibri"/>
              </a:rPr>
              <a:t>1.6 M SKUs: stock level and near-term forecast matter most   </a:t>
            </a:r>
            <a:r>
              <a:rPr sz="1200" b="0" i="1">
                <a:solidFill>
                  <a:srgbClr val="8A8F98"/>
                </a:solidFill>
                <a:latin typeface="Calibri"/>
              </a:rPr>
              <a:t>Liu et al., 2025</a:t>
            </a:r>
          </a:p>
        </p:txBody>
      </p:sp>
      <p:sp>
        <p:nvSpPr>
          <p:cNvPr id="22" name="Oval 21"/>
          <p:cNvSpPr/>
          <p:nvPr/>
        </p:nvSpPr>
        <p:spPr>
          <a:xfrm>
            <a:off x="4206240" y="4178808"/>
            <a:ext cx="457200" cy="457200"/>
          </a:xfrm>
          <a:prstGeom prst="ellipse">
            <a:avLst/>
          </a:prstGeom>
          <a:solidFill>
            <a:srgbClr val="D98E0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mbria"/>
              </a:rPr>
              <a:t>4</a:t>
            </a:r>
          </a:p>
        </p:txBody>
      </p:sp>
      <p:sp>
        <p:nvSpPr>
          <p:cNvPr id="23" name="TextBox 22"/>
          <p:cNvSpPr txBox="1"/>
          <p:nvPr/>
        </p:nvSpPr>
        <p:spPr>
          <a:xfrm>
            <a:off x="4846320" y="4114800"/>
            <a:ext cx="6766560" cy="320040"/>
          </a:xfrm>
          <a:prstGeom prst="rect">
            <a:avLst/>
          </a:prstGeom>
          <a:noFill/>
        </p:spPr>
        <p:txBody>
          <a:bodyPr wrap="square" lIns="0" tIns="0" rIns="0" bIns="0" anchor="t">
            <a:spAutoFit/>
          </a:bodyPr>
          <a:lstStyle/>
          <a:p>
            <a:pPr algn="l"/>
            <a:r>
              <a:rPr sz="1700" b="1" i="0">
                <a:solidFill>
                  <a:srgbClr val="1E242C"/>
                </a:solidFill>
                <a:latin typeface="Calibri"/>
              </a:rPr>
              <a:t>A more accurate forecast is not always a better decision</a:t>
            </a:r>
          </a:p>
        </p:txBody>
      </p:sp>
      <p:sp>
        <p:nvSpPr>
          <p:cNvPr id="24" name="TextBox 23"/>
          <p:cNvSpPr txBox="1"/>
          <p:nvPr/>
        </p:nvSpPr>
        <p:spPr>
          <a:xfrm>
            <a:off x="4846320" y="4462272"/>
            <a:ext cx="6766560" cy="320040"/>
          </a:xfrm>
          <a:prstGeom prst="rect">
            <a:avLst/>
          </a:prstGeom>
          <a:noFill/>
        </p:spPr>
        <p:txBody>
          <a:bodyPr wrap="square" lIns="0" tIns="0" rIns="0" bIns="0" anchor="t">
            <a:spAutoFit/>
          </a:bodyPr>
          <a:lstStyle/>
          <a:p>
            <a:pPr algn="l"/>
            <a:r>
              <a:rPr sz="1400" b="0" i="0">
                <a:solidFill>
                  <a:srgbClr val="5A6270"/>
                </a:solidFill>
                <a:latin typeface="Calibri"/>
              </a:rPr>
              <a:t>Weak link between accuracy and inventory cost on M5   </a:t>
            </a:r>
            <a:r>
              <a:rPr sz="1200" b="0" i="1">
                <a:solidFill>
                  <a:srgbClr val="8A8F98"/>
                </a:solidFill>
                <a:latin typeface="Calibri"/>
              </a:rPr>
              <a:t>Theodorou et al., 2025</a:t>
            </a:r>
          </a:p>
        </p:txBody>
      </p:sp>
      <p:sp>
        <p:nvSpPr>
          <p:cNvPr id="25" name="Oval 24"/>
          <p:cNvSpPr/>
          <p:nvPr/>
        </p:nvSpPr>
        <p:spPr>
          <a:xfrm>
            <a:off x="4206240" y="5001768"/>
            <a:ext cx="457200" cy="457200"/>
          </a:xfrm>
          <a:prstGeom prst="ellipse">
            <a:avLst/>
          </a:prstGeom>
          <a:solidFill>
            <a:srgbClr val="D98E0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mbria"/>
              </a:rPr>
              <a:t>5</a:t>
            </a:r>
          </a:p>
        </p:txBody>
      </p:sp>
      <p:sp>
        <p:nvSpPr>
          <p:cNvPr id="26" name="TextBox 25"/>
          <p:cNvSpPr txBox="1"/>
          <p:nvPr/>
        </p:nvSpPr>
        <p:spPr>
          <a:xfrm>
            <a:off x="4846320" y="4937759"/>
            <a:ext cx="6766560" cy="320040"/>
          </a:xfrm>
          <a:prstGeom prst="rect">
            <a:avLst/>
          </a:prstGeom>
          <a:noFill/>
        </p:spPr>
        <p:txBody>
          <a:bodyPr wrap="square" lIns="0" tIns="0" rIns="0" bIns="0" anchor="t">
            <a:spAutoFit/>
          </a:bodyPr>
          <a:lstStyle/>
          <a:p>
            <a:pPr algn="l"/>
            <a:r>
              <a:rPr sz="1700" b="1" i="0">
                <a:solidFill>
                  <a:srgbClr val="1E242C"/>
                </a:solidFill>
                <a:latin typeface="Calibri"/>
              </a:rPr>
              <a:t>Explanations stop at the forecast</a:t>
            </a:r>
          </a:p>
        </p:txBody>
      </p:sp>
      <p:sp>
        <p:nvSpPr>
          <p:cNvPr id="27" name="TextBox 26"/>
          <p:cNvSpPr txBox="1"/>
          <p:nvPr/>
        </p:nvSpPr>
        <p:spPr>
          <a:xfrm>
            <a:off x="4846320" y="5285231"/>
            <a:ext cx="6766560" cy="320040"/>
          </a:xfrm>
          <a:prstGeom prst="rect">
            <a:avLst/>
          </a:prstGeom>
          <a:noFill/>
        </p:spPr>
        <p:txBody>
          <a:bodyPr wrap="square" lIns="0" tIns="0" rIns="0" bIns="0" anchor="t">
            <a:spAutoFit/>
          </a:bodyPr>
          <a:lstStyle/>
          <a:p>
            <a:pPr algn="l"/>
            <a:r>
              <a:rPr sz="1400" b="0" i="0">
                <a:solidFill>
                  <a:srgbClr val="5A6270"/>
                </a:solidFill>
                <a:latin typeface="Calibri"/>
              </a:rPr>
              <a:t>LightGBM + SHAP/ICE explain demand, not risk or orders   </a:t>
            </a:r>
            <a:r>
              <a:rPr sz="1200" b="0" i="1">
                <a:solidFill>
                  <a:srgbClr val="8A8F98"/>
                </a:solidFill>
                <a:latin typeface="Calibri"/>
              </a:rPr>
              <a:t>Mishra et al., 2026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47472"/>
            <a:ext cx="8686800" cy="274320"/>
          </a:xfrm>
          <a:prstGeom prst="rect">
            <a:avLst/>
          </a:prstGeom>
          <a:noFill/>
        </p:spPr>
        <p:txBody>
          <a:bodyPr wrap="square" lIns="0" tIns="0" rIns="0" bIns="0" anchor="t">
            <a:spAutoFit/>
          </a:bodyPr>
          <a:lstStyle/>
          <a:p>
            <a:pPr algn="l"/>
            <a:r>
              <a:rPr sz="1100" b="1" i="0">
                <a:solidFill>
                  <a:srgbClr val="2E8B8B"/>
                </a:solidFill>
                <a:latin typeface="Calibri"/>
              </a:rPr>
              <a:t>RESEARCH GAPS</a:t>
            </a:r>
          </a:p>
        </p:txBody>
      </p:sp>
      <p:sp>
        <p:nvSpPr>
          <p:cNvPr id="3" name="Title"/>
          <p:cNvSpPr txBox="1"/>
          <p:nvPr/>
        </p:nvSpPr>
        <p:spPr>
          <a:xfrm>
            <a:off x="548640" y="603504"/>
            <a:ext cx="11064240" cy="731520"/>
          </a:xfrm>
          <a:prstGeom prst="rect">
            <a:avLst/>
          </a:prstGeom>
          <a:noFill/>
        </p:spPr>
        <p:txBody>
          <a:bodyPr wrap="square" lIns="0" tIns="0" rIns="0" bIns="0" anchor="t">
            <a:spAutoFit/>
          </a:bodyPr>
          <a:lstStyle/>
          <a:p>
            <a:pPr algn="l"/>
            <a:r>
              <a:rPr sz="3000" b="1" i="0">
                <a:solidFill>
                  <a:srgbClr val="1F3A5F"/>
                </a:solidFill>
                <a:latin typeface="Cambria"/>
              </a:rPr>
              <a:t>Six gaps - and how DemandIQ answers each one</a:t>
            </a:r>
          </a:p>
        </p:txBody>
      </p:sp>
      <p:pic>
        <p:nvPicPr>
          <p:cNvPr id="4" name="Picture 3" descr="nmims_logo.png"/>
          <p:cNvPicPr>
            <a:picLocks noChangeAspect="1"/>
          </p:cNvPicPr>
          <p:nvPr/>
        </p:nvPicPr>
        <p:blipFill>
          <a:blip r:embed="rId3"/>
          <a:stretch>
            <a:fillRect/>
          </a:stretch>
        </p:blipFill>
        <p:spPr>
          <a:xfrm>
            <a:off x="11109960" y="274320"/>
            <a:ext cx="570527" cy="566928"/>
          </a:xfrm>
          <a:prstGeom prst="rect">
            <a:avLst/>
          </a:prstGeom>
        </p:spPr>
      </p:pic>
      <p:sp>
        <p:nvSpPr>
          <p:cNvPr id="5" name="TextBox 4"/>
          <p:cNvSpPr txBox="1"/>
          <p:nvPr/>
        </p:nvSpPr>
        <p:spPr>
          <a:xfrm>
            <a:off x="548640" y="6446520"/>
            <a:ext cx="5486400" cy="228600"/>
          </a:xfrm>
          <a:prstGeom prst="rect">
            <a:avLst/>
          </a:prstGeom>
          <a:noFill/>
        </p:spPr>
        <p:txBody>
          <a:bodyPr wrap="square" lIns="0" tIns="0" rIns="0" bIns="0" anchor="t">
            <a:spAutoFit/>
          </a:bodyPr>
          <a:lstStyle/>
          <a:p>
            <a:pPr algn="l"/>
            <a:r>
              <a:rPr sz="900" b="0" i="0">
                <a:solidFill>
                  <a:srgbClr val="8A8F98"/>
                </a:solidFill>
                <a:latin typeface="Calibri"/>
              </a:rPr>
              <a:t>DemandIQ  |  NMIMS MPSTME  |  Machine Learning, Sem V</a:t>
            </a:r>
          </a:p>
        </p:txBody>
      </p:sp>
      <p:sp>
        <p:nvSpPr>
          <p:cNvPr id="6" name="TextBox 5"/>
          <p:cNvSpPr txBox="1"/>
          <p:nvPr/>
        </p:nvSpPr>
        <p:spPr>
          <a:xfrm>
            <a:off x="11155680" y="6446520"/>
            <a:ext cx="502920" cy="228600"/>
          </a:xfrm>
          <a:prstGeom prst="rect">
            <a:avLst/>
          </a:prstGeom>
          <a:noFill/>
        </p:spPr>
        <p:txBody>
          <a:bodyPr wrap="square" lIns="0" tIns="0" rIns="0" bIns="0" anchor="t">
            <a:spAutoFit/>
          </a:bodyPr>
          <a:lstStyle/>
          <a:p>
            <a:pPr algn="r"/>
            <a:r>
              <a:rPr sz="900" b="0" i="0">
                <a:solidFill>
                  <a:srgbClr val="8A8F98"/>
                </a:solidFill>
                <a:latin typeface="Calibri"/>
              </a:rPr>
              <a:t>5</a:t>
            </a:r>
          </a:p>
        </p:txBody>
      </p:sp>
      <p:sp>
        <p:nvSpPr>
          <p:cNvPr id="7" name="Rounded Rectangle 6"/>
          <p:cNvSpPr/>
          <p:nvPr/>
        </p:nvSpPr>
        <p:spPr>
          <a:xfrm>
            <a:off x="548640" y="1600200"/>
            <a:ext cx="5440680" cy="128016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777240" y="1947672"/>
            <a:ext cx="585216" cy="5852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mbria"/>
              </a:rPr>
              <a:t>G1</a:t>
            </a:r>
          </a:p>
        </p:txBody>
      </p:sp>
      <p:sp>
        <p:nvSpPr>
          <p:cNvPr id="9" name="TextBox 8"/>
          <p:cNvSpPr txBox="1"/>
          <p:nvPr/>
        </p:nvSpPr>
        <p:spPr>
          <a:xfrm>
            <a:off x="1554480" y="1783080"/>
            <a:ext cx="4297680" cy="457200"/>
          </a:xfrm>
          <a:prstGeom prst="rect">
            <a:avLst/>
          </a:prstGeom>
          <a:noFill/>
        </p:spPr>
        <p:txBody>
          <a:bodyPr wrap="square" lIns="0" tIns="0" rIns="0" bIns="0" anchor="t">
            <a:spAutoFit/>
          </a:bodyPr>
          <a:lstStyle/>
          <a:p>
            <a:pPr algn="l"/>
            <a:r>
              <a:rPr sz="1600" b="1" i="0">
                <a:solidFill>
                  <a:srgbClr val="1E242C"/>
                </a:solidFill>
                <a:latin typeface="Calibri"/>
              </a:rPr>
              <a:t>Forecast, risk and ordering studied separately</a:t>
            </a:r>
          </a:p>
        </p:txBody>
      </p:sp>
      <p:sp>
        <p:nvSpPr>
          <p:cNvPr id="10" name="TextBox 9"/>
          <p:cNvSpPr txBox="1"/>
          <p:nvPr/>
        </p:nvSpPr>
        <p:spPr>
          <a:xfrm>
            <a:off x="1554480" y="2286000"/>
            <a:ext cx="4297680" cy="457200"/>
          </a:xfrm>
          <a:prstGeom prst="rect">
            <a:avLst/>
          </a:prstGeom>
          <a:noFill/>
        </p:spPr>
        <p:txBody>
          <a:bodyPr wrap="square" lIns="0" tIns="0" rIns="0" bIns="0" anchor="t">
            <a:spAutoFit/>
          </a:bodyPr>
          <a:lstStyle/>
          <a:p>
            <a:pPr algn="l"/>
            <a:r>
              <a:rPr sz="1500" b="1" i="0">
                <a:solidFill>
                  <a:srgbClr val="2E8B8B"/>
                </a:solidFill>
                <a:latin typeface="Calibri"/>
              </a:rPr>
              <a:t>→  </a:t>
            </a:r>
            <a:r>
              <a:rPr sz="1500" b="0" i="0">
                <a:solidFill>
                  <a:srgbClr val="2E8B8B"/>
                </a:solidFill>
                <a:latin typeface="Calibri"/>
              </a:rPr>
              <a:t>One pipeline: forecast → risk → order</a:t>
            </a:r>
          </a:p>
        </p:txBody>
      </p:sp>
      <p:sp>
        <p:nvSpPr>
          <p:cNvPr id="11" name="Rounded Rectangle 10"/>
          <p:cNvSpPr/>
          <p:nvPr/>
        </p:nvSpPr>
        <p:spPr>
          <a:xfrm>
            <a:off x="6172200" y="1600200"/>
            <a:ext cx="5440680" cy="128016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6400800" y="1947672"/>
            <a:ext cx="585216" cy="5852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mbria"/>
              </a:rPr>
              <a:t>G2</a:t>
            </a:r>
          </a:p>
        </p:txBody>
      </p:sp>
      <p:sp>
        <p:nvSpPr>
          <p:cNvPr id="13" name="TextBox 12"/>
          <p:cNvSpPr txBox="1"/>
          <p:nvPr/>
        </p:nvSpPr>
        <p:spPr>
          <a:xfrm>
            <a:off x="7178040" y="1783080"/>
            <a:ext cx="4297680" cy="457200"/>
          </a:xfrm>
          <a:prstGeom prst="rect">
            <a:avLst/>
          </a:prstGeom>
          <a:noFill/>
        </p:spPr>
        <p:txBody>
          <a:bodyPr wrap="square" lIns="0" tIns="0" rIns="0" bIns="0" anchor="t">
            <a:spAutoFit/>
          </a:bodyPr>
          <a:lstStyle/>
          <a:p>
            <a:pPr algn="l"/>
            <a:r>
              <a:rPr sz="1600" b="1" i="0">
                <a:solidFill>
                  <a:srgbClr val="1E242C"/>
                </a:solidFill>
                <a:latin typeface="Calibri"/>
              </a:rPr>
              <a:t>Explanations end at the forecast</a:t>
            </a:r>
          </a:p>
        </p:txBody>
      </p:sp>
      <p:sp>
        <p:nvSpPr>
          <p:cNvPr id="14" name="TextBox 13"/>
          <p:cNvSpPr txBox="1"/>
          <p:nvPr/>
        </p:nvSpPr>
        <p:spPr>
          <a:xfrm>
            <a:off x="7178040" y="2286000"/>
            <a:ext cx="4297680" cy="457200"/>
          </a:xfrm>
          <a:prstGeom prst="rect">
            <a:avLst/>
          </a:prstGeom>
          <a:noFill/>
        </p:spPr>
        <p:txBody>
          <a:bodyPr wrap="square" lIns="0" tIns="0" rIns="0" bIns="0" anchor="t">
            <a:spAutoFit/>
          </a:bodyPr>
          <a:lstStyle/>
          <a:p>
            <a:pPr algn="l"/>
            <a:r>
              <a:rPr sz="1500" b="1" i="0">
                <a:solidFill>
                  <a:srgbClr val="2E8B8B"/>
                </a:solidFill>
                <a:latin typeface="Calibri"/>
              </a:rPr>
              <a:t>→  </a:t>
            </a:r>
            <a:r>
              <a:rPr sz="1500" b="0" i="0">
                <a:solidFill>
                  <a:srgbClr val="2E8B8B"/>
                </a:solidFill>
                <a:latin typeface="Calibri"/>
              </a:rPr>
              <a:t>SHAP for the demand AND the risk model</a:t>
            </a:r>
          </a:p>
        </p:txBody>
      </p:sp>
      <p:sp>
        <p:nvSpPr>
          <p:cNvPr id="15" name="Rounded Rectangle 14"/>
          <p:cNvSpPr/>
          <p:nvPr/>
        </p:nvSpPr>
        <p:spPr>
          <a:xfrm>
            <a:off x="548640" y="3063240"/>
            <a:ext cx="5440680" cy="128016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777240" y="3410712"/>
            <a:ext cx="585216" cy="5852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mbria"/>
              </a:rPr>
              <a:t>G3</a:t>
            </a:r>
          </a:p>
        </p:txBody>
      </p:sp>
      <p:sp>
        <p:nvSpPr>
          <p:cNvPr id="17" name="TextBox 16"/>
          <p:cNvSpPr txBox="1"/>
          <p:nvPr/>
        </p:nvSpPr>
        <p:spPr>
          <a:xfrm>
            <a:off x="1554480" y="3246120"/>
            <a:ext cx="4297680" cy="457200"/>
          </a:xfrm>
          <a:prstGeom prst="rect">
            <a:avLst/>
          </a:prstGeom>
          <a:noFill/>
        </p:spPr>
        <p:txBody>
          <a:bodyPr wrap="square" lIns="0" tIns="0" rIns="0" bIns="0" anchor="t">
            <a:spAutoFit/>
          </a:bodyPr>
          <a:lstStyle/>
          <a:p>
            <a:pPr algn="l"/>
            <a:r>
              <a:rPr sz="1600" b="1" i="0">
                <a:solidFill>
                  <a:srgbClr val="1E242C"/>
                </a:solidFill>
                <a:latin typeface="Calibri"/>
              </a:rPr>
              <a:t>Accuracy is not decision quality</a:t>
            </a:r>
          </a:p>
        </p:txBody>
      </p:sp>
      <p:sp>
        <p:nvSpPr>
          <p:cNvPr id="18" name="TextBox 17"/>
          <p:cNvSpPr txBox="1"/>
          <p:nvPr/>
        </p:nvSpPr>
        <p:spPr>
          <a:xfrm>
            <a:off x="1554480" y="3749039"/>
            <a:ext cx="4297680" cy="457200"/>
          </a:xfrm>
          <a:prstGeom prst="rect">
            <a:avLst/>
          </a:prstGeom>
          <a:noFill/>
        </p:spPr>
        <p:txBody>
          <a:bodyPr wrap="square" lIns="0" tIns="0" rIns="0" bIns="0" anchor="t">
            <a:spAutoFit/>
          </a:bodyPr>
          <a:lstStyle/>
          <a:p>
            <a:pPr algn="l"/>
            <a:r>
              <a:rPr sz="1500" b="1" i="0">
                <a:solidFill>
                  <a:srgbClr val="2E8B8B"/>
                </a:solidFill>
                <a:latin typeface="Calibri"/>
              </a:rPr>
              <a:t>→  </a:t>
            </a:r>
            <a:r>
              <a:rPr sz="1500" b="0" i="0">
                <a:solidFill>
                  <a:srgbClr val="2E8B8B"/>
                </a:solidFill>
                <a:latin typeface="Calibri"/>
              </a:rPr>
              <a:t>Judge on stockouts, fill rate, stock and cost</a:t>
            </a:r>
          </a:p>
        </p:txBody>
      </p:sp>
      <p:sp>
        <p:nvSpPr>
          <p:cNvPr id="19" name="Rounded Rectangle 18"/>
          <p:cNvSpPr/>
          <p:nvPr/>
        </p:nvSpPr>
        <p:spPr>
          <a:xfrm>
            <a:off x="6172200" y="3063240"/>
            <a:ext cx="5440680" cy="128016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6400800" y="3410712"/>
            <a:ext cx="585216" cy="5852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mbria"/>
              </a:rPr>
              <a:t>G4</a:t>
            </a:r>
          </a:p>
        </p:txBody>
      </p:sp>
      <p:sp>
        <p:nvSpPr>
          <p:cNvPr id="21" name="TextBox 20"/>
          <p:cNvSpPr txBox="1"/>
          <p:nvPr/>
        </p:nvSpPr>
        <p:spPr>
          <a:xfrm>
            <a:off x="7178040" y="3246120"/>
            <a:ext cx="4297680" cy="457200"/>
          </a:xfrm>
          <a:prstGeom prst="rect">
            <a:avLst/>
          </a:prstGeom>
          <a:noFill/>
        </p:spPr>
        <p:txBody>
          <a:bodyPr wrap="square" lIns="0" tIns="0" rIns="0" bIns="0" anchor="t">
            <a:spAutoFit/>
          </a:bodyPr>
          <a:lstStyle/>
          <a:p>
            <a:pPr algn="l"/>
            <a:r>
              <a:rPr sz="1600" b="1" i="0">
                <a:solidFill>
                  <a:srgbClr val="1E242C"/>
                </a:solidFill>
                <a:latin typeface="Calibri"/>
              </a:rPr>
              <a:t>What-if read as cause and effect</a:t>
            </a:r>
          </a:p>
        </p:txBody>
      </p:sp>
      <p:sp>
        <p:nvSpPr>
          <p:cNvPr id="22" name="TextBox 21"/>
          <p:cNvSpPr txBox="1"/>
          <p:nvPr/>
        </p:nvSpPr>
        <p:spPr>
          <a:xfrm>
            <a:off x="7178040" y="3749039"/>
            <a:ext cx="4297680" cy="457200"/>
          </a:xfrm>
          <a:prstGeom prst="rect">
            <a:avLst/>
          </a:prstGeom>
          <a:noFill/>
        </p:spPr>
        <p:txBody>
          <a:bodyPr wrap="square" lIns="0" tIns="0" rIns="0" bIns="0" anchor="t">
            <a:spAutoFit/>
          </a:bodyPr>
          <a:lstStyle/>
          <a:p>
            <a:pPr algn="l"/>
            <a:r>
              <a:rPr sz="1500" b="1" i="0">
                <a:solidFill>
                  <a:srgbClr val="2E8B8B"/>
                </a:solidFill>
                <a:latin typeface="Calibri"/>
              </a:rPr>
              <a:t>→  </a:t>
            </a:r>
            <a:r>
              <a:rPr sz="1500" b="0" i="0">
                <a:solidFill>
                  <a:srgbClr val="2E8B8B"/>
                </a:solidFill>
                <a:latin typeface="Calibri"/>
              </a:rPr>
              <a:t>Every what-if labelled as model behaviour</a:t>
            </a:r>
          </a:p>
        </p:txBody>
      </p:sp>
      <p:sp>
        <p:nvSpPr>
          <p:cNvPr id="23" name="Rounded Rectangle 22"/>
          <p:cNvSpPr/>
          <p:nvPr/>
        </p:nvSpPr>
        <p:spPr>
          <a:xfrm>
            <a:off x="548640" y="4526280"/>
            <a:ext cx="5440680" cy="128016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777240" y="4873752"/>
            <a:ext cx="585216" cy="5852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mbria"/>
              </a:rPr>
              <a:t>G5</a:t>
            </a:r>
          </a:p>
        </p:txBody>
      </p:sp>
      <p:sp>
        <p:nvSpPr>
          <p:cNvPr id="25" name="TextBox 24"/>
          <p:cNvSpPr txBox="1"/>
          <p:nvPr/>
        </p:nvSpPr>
        <p:spPr>
          <a:xfrm>
            <a:off x="1554480" y="4709160"/>
            <a:ext cx="4297680" cy="457200"/>
          </a:xfrm>
          <a:prstGeom prst="rect">
            <a:avLst/>
          </a:prstGeom>
          <a:noFill/>
        </p:spPr>
        <p:txBody>
          <a:bodyPr wrap="square" lIns="0" tIns="0" rIns="0" bIns="0" anchor="t">
            <a:spAutoFit/>
          </a:bodyPr>
          <a:lstStyle/>
          <a:p>
            <a:pPr algn="l"/>
            <a:r>
              <a:rPr sz="1600" b="1" i="0">
                <a:solidFill>
                  <a:srgbClr val="1E242C"/>
                </a:solidFill>
                <a:latin typeface="Calibri"/>
              </a:rPr>
              <a:t>One policy for very different stores</a:t>
            </a:r>
          </a:p>
        </p:txBody>
      </p:sp>
      <p:sp>
        <p:nvSpPr>
          <p:cNvPr id="26" name="TextBox 25"/>
          <p:cNvSpPr txBox="1"/>
          <p:nvPr/>
        </p:nvSpPr>
        <p:spPr>
          <a:xfrm>
            <a:off x="1554480" y="5212080"/>
            <a:ext cx="4297680" cy="457200"/>
          </a:xfrm>
          <a:prstGeom prst="rect">
            <a:avLst/>
          </a:prstGeom>
          <a:noFill/>
        </p:spPr>
        <p:txBody>
          <a:bodyPr wrap="square" lIns="0" tIns="0" rIns="0" bIns="0" anchor="t">
            <a:spAutoFit/>
          </a:bodyPr>
          <a:lstStyle/>
          <a:p>
            <a:pPr algn="l"/>
            <a:r>
              <a:rPr sz="1500" b="1" i="0">
                <a:solidFill>
                  <a:srgbClr val="2E8B8B"/>
                </a:solidFill>
                <a:latin typeface="Calibri"/>
              </a:rPr>
              <a:t>→  </a:t>
            </a:r>
            <a:r>
              <a:rPr sz="1500" b="0" i="0">
                <a:solidFill>
                  <a:srgbClr val="2E8B8B"/>
                </a:solidFill>
                <a:latin typeface="Calibri"/>
              </a:rPr>
              <a:t>K-Means segments; uplift per segment</a:t>
            </a:r>
          </a:p>
        </p:txBody>
      </p:sp>
      <p:sp>
        <p:nvSpPr>
          <p:cNvPr id="27" name="Rounded Rectangle 26"/>
          <p:cNvSpPr/>
          <p:nvPr/>
        </p:nvSpPr>
        <p:spPr>
          <a:xfrm>
            <a:off x="6172200" y="4526280"/>
            <a:ext cx="5440680" cy="128016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6400800" y="4873752"/>
            <a:ext cx="585216" cy="5852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mbria"/>
              </a:rPr>
              <a:t>G6</a:t>
            </a:r>
          </a:p>
        </p:txBody>
      </p:sp>
      <p:sp>
        <p:nvSpPr>
          <p:cNvPr id="29" name="TextBox 28"/>
          <p:cNvSpPr txBox="1"/>
          <p:nvPr/>
        </p:nvSpPr>
        <p:spPr>
          <a:xfrm>
            <a:off x="7178040" y="4709160"/>
            <a:ext cx="4297680" cy="457200"/>
          </a:xfrm>
          <a:prstGeom prst="rect">
            <a:avLst/>
          </a:prstGeom>
          <a:noFill/>
        </p:spPr>
        <p:txBody>
          <a:bodyPr wrap="square" lIns="0" tIns="0" rIns="0" bIns="0" anchor="t">
            <a:spAutoFit/>
          </a:bodyPr>
          <a:lstStyle/>
          <a:p>
            <a:pPr algn="l"/>
            <a:r>
              <a:rPr sz="1600" b="1" i="0">
                <a:solidFill>
                  <a:srgbClr val="1E242C"/>
                </a:solidFill>
                <a:latin typeface="Calibri"/>
              </a:rPr>
              <a:t>No public data has stock on hand</a:t>
            </a:r>
          </a:p>
        </p:txBody>
      </p:sp>
      <p:sp>
        <p:nvSpPr>
          <p:cNvPr id="30" name="TextBox 29"/>
          <p:cNvSpPr txBox="1"/>
          <p:nvPr/>
        </p:nvSpPr>
        <p:spPr>
          <a:xfrm>
            <a:off x="7178040" y="5212080"/>
            <a:ext cx="4297680" cy="457200"/>
          </a:xfrm>
          <a:prstGeom prst="rect">
            <a:avLst/>
          </a:prstGeom>
          <a:noFill/>
        </p:spPr>
        <p:txBody>
          <a:bodyPr wrap="square" lIns="0" tIns="0" rIns="0" bIns="0" anchor="t">
            <a:spAutoFit/>
          </a:bodyPr>
          <a:lstStyle/>
          <a:p>
            <a:pPr algn="l"/>
            <a:r>
              <a:rPr sz="1500" b="1" i="0">
                <a:solidFill>
                  <a:srgbClr val="2E8B8B"/>
                </a:solidFill>
                <a:latin typeface="Calibri"/>
              </a:rPr>
              <a:t>→  </a:t>
            </a:r>
            <a:r>
              <a:rPr sz="1500" b="0" i="0">
                <a:solidFill>
                  <a:srgbClr val="2E8B8B"/>
                </a:solidFill>
                <a:latin typeface="Calibri"/>
              </a:rPr>
              <a:t>Calibrated inventory replay over real sales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47472"/>
            <a:ext cx="8686800" cy="274320"/>
          </a:xfrm>
          <a:prstGeom prst="rect">
            <a:avLst/>
          </a:prstGeom>
          <a:noFill/>
        </p:spPr>
        <p:txBody>
          <a:bodyPr wrap="square" lIns="0" tIns="0" rIns="0" bIns="0" anchor="t">
            <a:spAutoFit/>
          </a:bodyPr>
          <a:lstStyle/>
          <a:p>
            <a:pPr algn="l"/>
            <a:r>
              <a:rPr sz="1100" b="1" i="0">
                <a:solidFill>
                  <a:srgbClr val="2E8B8B"/>
                </a:solidFill>
                <a:latin typeface="Calibri"/>
              </a:rPr>
              <a:t>DATASET</a:t>
            </a:r>
          </a:p>
        </p:txBody>
      </p:sp>
      <p:sp>
        <p:nvSpPr>
          <p:cNvPr id="3" name="Title"/>
          <p:cNvSpPr txBox="1"/>
          <p:nvPr/>
        </p:nvSpPr>
        <p:spPr>
          <a:xfrm>
            <a:off x="548640" y="603504"/>
            <a:ext cx="11064240" cy="731520"/>
          </a:xfrm>
          <a:prstGeom prst="rect">
            <a:avLst/>
          </a:prstGeom>
          <a:noFill/>
        </p:spPr>
        <p:txBody>
          <a:bodyPr wrap="square" lIns="0" tIns="0" rIns="0" bIns="0" anchor="t">
            <a:spAutoFit/>
          </a:bodyPr>
          <a:lstStyle/>
          <a:p>
            <a:pPr algn="l"/>
            <a:r>
              <a:rPr sz="3000" b="1" i="0">
                <a:solidFill>
                  <a:srgbClr val="1F3A5F"/>
                </a:solidFill>
                <a:latin typeface="Cambria"/>
              </a:rPr>
              <a:t>Real sales from 1,115 Rossmann drugstores, 2013 - 2015</a:t>
            </a:r>
          </a:p>
        </p:txBody>
      </p:sp>
      <p:pic>
        <p:nvPicPr>
          <p:cNvPr id="4" name="Picture 3" descr="nmims_logo.png"/>
          <p:cNvPicPr>
            <a:picLocks noChangeAspect="1"/>
          </p:cNvPicPr>
          <p:nvPr/>
        </p:nvPicPr>
        <p:blipFill>
          <a:blip r:embed="rId3"/>
          <a:stretch>
            <a:fillRect/>
          </a:stretch>
        </p:blipFill>
        <p:spPr>
          <a:xfrm>
            <a:off x="11109960" y="274320"/>
            <a:ext cx="570527" cy="566928"/>
          </a:xfrm>
          <a:prstGeom prst="rect">
            <a:avLst/>
          </a:prstGeom>
        </p:spPr>
      </p:pic>
      <p:sp>
        <p:nvSpPr>
          <p:cNvPr id="5" name="TextBox 4"/>
          <p:cNvSpPr txBox="1"/>
          <p:nvPr/>
        </p:nvSpPr>
        <p:spPr>
          <a:xfrm>
            <a:off x="548640" y="6446520"/>
            <a:ext cx="5486400" cy="228600"/>
          </a:xfrm>
          <a:prstGeom prst="rect">
            <a:avLst/>
          </a:prstGeom>
          <a:noFill/>
        </p:spPr>
        <p:txBody>
          <a:bodyPr wrap="square" lIns="0" tIns="0" rIns="0" bIns="0" anchor="t">
            <a:spAutoFit/>
          </a:bodyPr>
          <a:lstStyle/>
          <a:p>
            <a:pPr algn="l"/>
            <a:r>
              <a:rPr sz="900" b="0" i="0">
                <a:solidFill>
                  <a:srgbClr val="8A8F98"/>
                </a:solidFill>
                <a:latin typeface="Calibri"/>
              </a:rPr>
              <a:t>DemandIQ  |  NMIMS MPSTME  |  Machine Learning, Sem V</a:t>
            </a:r>
          </a:p>
        </p:txBody>
      </p:sp>
      <p:sp>
        <p:nvSpPr>
          <p:cNvPr id="6" name="TextBox 5"/>
          <p:cNvSpPr txBox="1"/>
          <p:nvPr/>
        </p:nvSpPr>
        <p:spPr>
          <a:xfrm>
            <a:off x="11155680" y="6446520"/>
            <a:ext cx="502920" cy="228600"/>
          </a:xfrm>
          <a:prstGeom prst="rect">
            <a:avLst/>
          </a:prstGeom>
          <a:noFill/>
        </p:spPr>
        <p:txBody>
          <a:bodyPr wrap="square" lIns="0" tIns="0" rIns="0" bIns="0" anchor="t">
            <a:spAutoFit/>
          </a:bodyPr>
          <a:lstStyle/>
          <a:p>
            <a:pPr algn="r"/>
            <a:r>
              <a:rPr sz="900" b="0" i="0">
                <a:solidFill>
                  <a:srgbClr val="8A8F98"/>
                </a:solidFill>
                <a:latin typeface="Calibri"/>
              </a:rPr>
              <a:t>6</a:t>
            </a:r>
          </a:p>
        </p:txBody>
      </p:sp>
      <p:sp>
        <p:nvSpPr>
          <p:cNvPr id="7" name="Rounded Rectangle 6"/>
          <p:cNvSpPr/>
          <p:nvPr/>
        </p:nvSpPr>
        <p:spPr>
          <a:xfrm>
            <a:off x="548640" y="1600200"/>
            <a:ext cx="2651760" cy="150876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22959" y="1737360"/>
            <a:ext cx="2194560" cy="731520"/>
          </a:xfrm>
          <a:prstGeom prst="rect">
            <a:avLst/>
          </a:prstGeom>
          <a:noFill/>
        </p:spPr>
        <p:txBody>
          <a:bodyPr wrap="square" lIns="0" tIns="0" rIns="0" bIns="0" anchor="t">
            <a:spAutoFit/>
          </a:bodyPr>
          <a:lstStyle/>
          <a:p>
            <a:pPr algn="l"/>
            <a:r>
              <a:rPr sz="3600" b="1" i="0">
                <a:solidFill>
                  <a:srgbClr val="1F3A5F"/>
                </a:solidFill>
                <a:latin typeface="Cambria"/>
              </a:rPr>
              <a:t>1.02 M</a:t>
            </a:r>
          </a:p>
        </p:txBody>
      </p:sp>
      <p:sp>
        <p:nvSpPr>
          <p:cNvPr id="9" name="TextBox 8"/>
          <p:cNvSpPr txBox="1"/>
          <p:nvPr/>
        </p:nvSpPr>
        <p:spPr>
          <a:xfrm>
            <a:off x="822959" y="2514600"/>
            <a:ext cx="2286000" cy="457200"/>
          </a:xfrm>
          <a:prstGeom prst="rect">
            <a:avLst/>
          </a:prstGeom>
          <a:noFill/>
        </p:spPr>
        <p:txBody>
          <a:bodyPr wrap="square" lIns="0" tIns="0" rIns="0" bIns="0" anchor="t">
            <a:spAutoFit/>
          </a:bodyPr>
          <a:lstStyle/>
          <a:p>
            <a:pPr algn="l"/>
            <a:r>
              <a:rPr sz="1500" b="0" i="0">
                <a:solidFill>
                  <a:srgbClr val="5A6270"/>
                </a:solidFill>
                <a:latin typeface="Calibri"/>
              </a:rPr>
              <a:t>daily store records</a:t>
            </a:r>
          </a:p>
        </p:txBody>
      </p:sp>
      <p:sp>
        <p:nvSpPr>
          <p:cNvPr id="10" name="Rounded Rectangle 9"/>
          <p:cNvSpPr/>
          <p:nvPr/>
        </p:nvSpPr>
        <p:spPr>
          <a:xfrm>
            <a:off x="3383280" y="1600200"/>
            <a:ext cx="2651760" cy="150876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657600" y="1737360"/>
            <a:ext cx="2194560" cy="731520"/>
          </a:xfrm>
          <a:prstGeom prst="rect">
            <a:avLst/>
          </a:prstGeom>
          <a:noFill/>
        </p:spPr>
        <p:txBody>
          <a:bodyPr wrap="square" lIns="0" tIns="0" rIns="0" bIns="0" anchor="t">
            <a:spAutoFit/>
          </a:bodyPr>
          <a:lstStyle/>
          <a:p>
            <a:pPr algn="l"/>
            <a:r>
              <a:rPr sz="3600" b="1" i="0">
                <a:solidFill>
                  <a:srgbClr val="1F3A5F"/>
                </a:solidFill>
                <a:latin typeface="Cambria"/>
              </a:rPr>
              <a:t>942</a:t>
            </a:r>
          </a:p>
        </p:txBody>
      </p:sp>
      <p:sp>
        <p:nvSpPr>
          <p:cNvPr id="12" name="TextBox 11"/>
          <p:cNvSpPr txBox="1"/>
          <p:nvPr/>
        </p:nvSpPr>
        <p:spPr>
          <a:xfrm>
            <a:off x="3657600" y="2514600"/>
            <a:ext cx="2286000" cy="457200"/>
          </a:xfrm>
          <a:prstGeom prst="rect">
            <a:avLst/>
          </a:prstGeom>
          <a:noFill/>
        </p:spPr>
        <p:txBody>
          <a:bodyPr wrap="square" lIns="0" tIns="0" rIns="0" bIns="0" anchor="t">
            <a:spAutoFit/>
          </a:bodyPr>
          <a:lstStyle/>
          <a:p>
            <a:pPr algn="l"/>
            <a:r>
              <a:rPr sz="1500" b="0" i="0">
                <a:solidFill>
                  <a:srgbClr val="5A6270"/>
                </a:solidFill>
                <a:latin typeface="Calibri"/>
              </a:rPr>
              <a:t>days of history</a:t>
            </a:r>
          </a:p>
        </p:txBody>
      </p:sp>
      <p:sp>
        <p:nvSpPr>
          <p:cNvPr id="13" name="Rounded Rectangle 12"/>
          <p:cNvSpPr/>
          <p:nvPr/>
        </p:nvSpPr>
        <p:spPr>
          <a:xfrm>
            <a:off x="6217920" y="1600200"/>
            <a:ext cx="2651760" cy="150876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492240" y="1737360"/>
            <a:ext cx="2194560" cy="731520"/>
          </a:xfrm>
          <a:prstGeom prst="rect">
            <a:avLst/>
          </a:prstGeom>
          <a:noFill/>
        </p:spPr>
        <p:txBody>
          <a:bodyPr wrap="square" lIns="0" tIns="0" rIns="0" bIns="0" anchor="t">
            <a:spAutoFit/>
          </a:bodyPr>
          <a:lstStyle/>
          <a:p>
            <a:pPr algn="l"/>
            <a:r>
              <a:rPr sz="3600" b="1" i="0">
                <a:solidFill>
                  <a:srgbClr val="1F3A5F"/>
                </a:solidFill>
                <a:latin typeface="Cambria"/>
              </a:rPr>
              <a:t>935</a:t>
            </a:r>
          </a:p>
        </p:txBody>
      </p:sp>
      <p:sp>
        <p:nvSpPr>
          <p:cNvPr id="15" name="TextBox 14"/>
          <p:cNvSpPr txBox="1"/>
          <p:nvPr/>
        </p:nvSpPr>
        <p:spPr>
          <a:xfrm>
            <a:off x="6492240" y="2514600"/>
            <a:ext cx="2286000" cy="457200"/>
          </a:xfrm>
          <a:prstGeom prst="rect">
            <a:avLst/>
          </a:prstGeom>
          <a:noFill/>
        </p:spPr>
        <p:txBody>
          <a:bodyPr wrap="square" lIns="0" tIns="0" rIns="0" bIns="0" anchor="t">
            <a:spAutoFit/>
          </a:bodyPr>
          <a:lstStyle/>
          <a:p>
            <a:pPr algn="l"/>
            <a:r>
              <a:rPr sz="1500" b="0" i="0">
                <a:solidFill>
                  <a:srgbClr val="5A6270"/>
                </a:solidFill>
                <a:latin typeface="Calibri"/>
              </a:rPr>
              <a:t>stores with complete history</a:t>
            </a:r>
          </a:p>
        </p:txBody>
      </p:sp>
      <p:sp>
        <p:nvSpPr>
          <p:cNvPr id="16" name="Rounded Rectangle 15"/>
          <p:cNvSpPr/>
          <p:nvPr/>
        </p:nvSpPr>
        <p:spPr>
          <a:xfrm>
            <a:off x="9052560" y="1600200"/>
            <a:ext cx="2651760" cy="150876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9326880" y="1737360"/>
            <a:ext cx="2194560" cy="731520"/>
          </a:xfrm>
          <a:prstGeom prst="rect">
            <a:avLst/>
          </a:prstGeom>
          <a:noFill/>
        </p:spPr>
        <p:txBody>
          <a:bodyPr wrap="square" lIns="0" tIns="0" rIns="0" bIns="0" anchor="t">
            <a:spAutoFit/>
          </a:bodyPr>
          <a:lstStyle/>
          <a:p>
            <a:pPr algn="l"/>
            <a:r>
              <a:rPr sz="3600" b="1" i="0">
                <a:solidFill>
                  <a:srgbClr val="1F3A5F"/>
                </a:solidFill>
                <a:latin typeface="Cambria"/>
              </a:rPr>
              <a:t>27</a:t>
            </a:r>
          </a:p>
        </p:txBody>
      </p:sp>
      <p:sp>
        <p:nvSpPr>
          <p:cNvPr id="18" name="TextBox 17"/>
          <p:cNvSpPr txBox="1"/>
          <p:nvPr/>
        </p:nvSpPr>
        <p:spPr>
          <a:xfrm>
            <a:off x="9326880" y="2514600"/>
            <a:ext cx="2286000" cy="457200"/>
          </a:xfrm>
          <a:prstGeom prst="rect">
            <a:avLst/>
          </a:prstGeom>
          <a:noFill/>
        </p:spPr>
        <p:txBody>
          <a:bodyPr wrap="square" lIns="0" tIns="0" rIns="0" bIns="0" anchor="t">
            <a:spAutoFit/>
          </a:bodyPr>
          <a:lstStyle/>
          <a:p>
            <a:pPr algn="l"/>
            <a:r>
              <a:rPr sz="1500" b="0" i="0">
                <a:solidFill>
                  <a:srgbClr val="5A6270"/>
                </a:solidFill>
                <a:latin typeface="Calibri"/>
              </a:rPr>
              <a:t>leak-free features</a:t>
            </a:r>
          </a:p>
        </p:txBody>
      </p:sp>
      <p:sp>
        <p:nvSpPr>
          <p:cNvPr id="19" name="TextBox 18"/>
          <p:cNvSpPr txBox="1"/>
          <p:nvPr/>
        </p:nvSpPr>
        <p:spPr>
          <a:xfrm>
            <a:off x="548640" y="3429000"/>
            <a:ext cx="5486400" cy="365760"/>
          </a:xfrm>
          <a:prstGeom prst="rect">
            <a:avLst/>
          </a:prstGeom>
          <a:noFill/>
        </p:spPr>
        <p:txBody>
          <a:bodyPr wrap="square" lIns="0" tIns="0" rIns="0" bIns="0" anchor="t">
            <a:spAutoFit/>
          </a:bodyPr>
          <a:lstStyle/>
          <a:p>
            <a:pPr algn="l"/>
            <a:r>
              <a:rPr sz="1800" b="1" i="0">
                <a:solidFill>
                  <a:srgbClr val="1E242C"/>
                </a:solidFill>
                <a:latin typeface="Cambria"/>
              </a:rPr>
              <a:t>Split strictly by date - never shuffled</a:t>
            </a:r>
          </a:p>
        </p:txBody>
      </p:sp>
      <p:sp>
        <p:nvSpPr>
          <p:cNvPr id="20" name="Rounded Rectangle 19"/>
          <p:cNvSpPr/>
          <p:nvPr/>
        </p:nvSpPr>
        <p:spPr>
          <a:xfrm>
            <a:off x="548640" y="3931920"/>
            <a:ext cx="8458200" cy="731520"/>
          </a:xfrm>
          <a:prstGeom prst="roundRect">
            <a:avLst>
              <a:gd name="adj" fmla="val 15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31520" y="3986784"/>
            <a:ext cx="8229600" cy="320040"/>
          </a:xfrm>
          <a:prstGeom prst="rect">
            <a:avLst/>
          </a:prstGeom>
          <a:noFill/>
        </p:spPr>
        <p:txBody>
          <a:bodyPr wrap="square" lIns="0" tIns="0" rIns="0" bIns="0" anchor="t">
            <a:spAutoFit/>
          </a:bodyPr>
          <a:lstStyle/>
          <a:p>
            <a:pPr algn="l"/>
            <a:r>
              <a:rPr sz="1500" b="1" i="0">
                <a:solidFill>
                  <a:srgbClr val="FFFFFF"/>
                </a:solidFill>
                <a:latin typeface="Calibri"/>
              </a:rPr>
              <a:t>Training</a:t>
            </a:r>
          </a:p>
        </p:txBody>
      </p:sp>
      <p:sp>
        <p:nvSpPr>
          <p:cNvPr id="22" name="TextBox 21"/>
          <p:cNvSpPr txBox="1"/>
          <p:nvPr/>
        </p:nvSpPr>
        <p:spPr>
          <a:xfrm>
            <a:off x="731520" y="4279392"/>
            <a:ext cx="8229600" cy="320040"/>
          </a:xfrm>
          <a:prstGeom prst="rect">
            <a:avLst/>
          </a:prstGeom>
          <a:noFill/>
        </p:spPr>
        <p:txBody>
          <a:bodyPr wrap="square" lIns="0" tIns="0" rIns="0" bIns="0" anchor="t">
            <a:spAutoFit/>
          </a:bodyPr>
          <a:lstStyle/>
          <a:p>
            <a:pPr algn="l"/>
            <a:r>
              <a:rPr sz="1200" b="0" i="0">
                <a:solidFill>
                  <a:srgbClr val="FFFFFF"/>
                </a:solidFill>
                <a:latin typeface="Calibri"/>
              </a:rPr>
              <a:t>Jan 2013 - Mar 2015</a:t>
            </a:r>
          </a:p>
        </p:txBody>
      </p:sp>
      <p:sp>
        <p:nvSpPr>
          <p:cNvPr id="23" name="Rounded Rectangle 22"/>
          <p:cNvSpPr/>
          <p:nvPr/>
        </p:nvSpPr>
        <p:spPr>
          <a:xfrm>
            <a:off x="9052560" y="3931920"/>
            <a:ext cx="1234439" cy="731520"/>
          </a:xfrm>
          <a:prstGeom prst="roundRect">
            <a:avLst>
              <a:gd name="adj" fmla="val 15000"/>
            </a:avLst>
          </a:prstGeom>
          <a:solidFill>
            <a:srgbClr val="D98E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235440" y="3986784"/>
            <a:ext cx="1005839" cy="320040"/>
          </a:xfrm>
          <a:prstGeom prst="rect">
            <a:avLst/>
          </a:prstGeom>
          <a:noFill/>
        </p:spPr>
        <p:txBody>
          <a:bodyPr wrap="square" lIns="0" tIns="0" rIns="0" bIns="0" anchor="t">
            <a:spAutoFit/>
          </a:bodyPr>
          <a:lstStyle/>
          <a:p>
            <a:pPr algn="l"/>
            <a:r>
              <a:rPr sz="1500" b="1" i="0">
                <a:solidFill>
                  <a:srgbClr val="FFFFFF"/>
                </a:solidFill>
                <a:latin typeface="Calibri"/>
              </a:rPr>
              <a:t>Validation</a:t>
            </a:r>
          </a:p>
        </p:txBody>
      </p:sp>
      <p:sp>
        <p:nvSpPr>
          <p:cNvPr id="25" name="TextBox 24"/>
          <p:cNvSpPr txBox="1"/>
          <p:nvPr/>
        </p:nvSpPr>
        <p:spPr>
          <a:xfrm>
            <a:off x="9235440" y="4279392"/>
            <a:ext cx="1005839" cy="320040"/>
          </a:xfrm>
          <a:prstGeom prst="rect">
            <a:avLst/>
          </a:prstGeom>
          <a:noFill/>
        </p:spPr>
        <p:txBody>
          <a:bodyPr wrap="square" lIns="0" tIns="0" rIns="0" bIns="0" anchor="t">
            <a:spAutoFit/>
          </a:bodyPr>
          <a:lstStyle/>
          <a:p>
            <a:pPr algn="l"/>
            <a:r>
              <a:rPr sz="1200" b="0" i="0">
                <a:solidFill>
                  <a:srgbClr val="FFFFFF"/>
                </a:solidFill>
                <a:latin typeface="Calibri"/>
              </a:rPr>
              <a:t>Apr - May</a:t>
            </a:r>
          </a:p>
        </p:txBody>
      </p:sp>
      <p:sp>
        <p:nvSpPr>
          <p:cNvPr id="26" name="Rounded Rectangle 25"/>
          <p:cNvSpPr/>
          <p:nvPr/>
        </p:nvSpPr>
        <p:spPr>
          <a:xfrm>
            <a:off x="10332720" y="3931920"/>
            <a:ext cx="1280160" cy="731520"/>
          </a:xfrm>
          <a:prstGeom prst="roundRect">
            <a:avLst>
              <a:gd name="adj" fmla="val 15000"/>
            </a:avLst>
          </a:prstGeom>
          <a:solidFill>
            <a:srgbClr val="B23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10515600" y="3986784"/>
            <a:ext cx="1051560" cy="320040"/>
          </a:xfrm>
          <a:prstGeom prst="rect">
            <a:avLst/>
          </a:prstGeom>
          <a:noFill/>
        </p:spPr>
        <p:txBody>
          <a:bodyPr wrap="square" lIns="0" tIns="0" rIns="0" bIns="0" anchor="t">
            <a:spAutoFit/>
          </a:bodyPr>
          <a:lstStyle/>
          <a:p>
            <a:pPr algn="l"/>
            <a:r>
              <a:rPr sz="1500" b="1" i="0">
                <a:solidFill>
                  <a:srgbClr val="FFFFFF"/>
                </a:solidFill>
                <a:latin typeface="Calibri"/>
              </a:rPr>
              <a:t>Test</a:t>
            </a:r>
          </a:p>
        </p:txBody>
      </p:sp>
      <p:sp>
        <p:nvSpPr>
          <p:cNvPr id="28" name="TextBox 27"/>
          <p:cNvSpPr txBox="1"/>
          <p:nvPr/>
        </p:nvSpPr>
        <p:spPr>
          <a:xfrm>
            <a:off x="10515600" y="4279392"/>
            <a:ext cx="1051560" cy="320040"/>
          </a:xfrm>
          <a:prstGeom prst="rect">
            <a:avLst/>
          </a:prstGeom>
          <a:noFill/>
        </p:spPr>
        <p:txBody>
          <a:bodyPr wrap="square" lIns="0" tIns="0" rIns="0" bIns="0" anchor="t">
            <a:spAutoFit/>
          </a:bodyPr>
          <a:lstStyle/>
          <a:p>
            <a:pPr algn="l"/>
            <a:r>
              <a:rPr sz="1200" b="0" i="0">
                <a:solidFill>
                  <a:srgbClr val="FFFFFF"/>
                </a:solidFill>
                <a:latin typeface="Calibri"/>
              </a:rPr>
              <a:t>Jun - Jul 2015</a:t>
            </a:r>
          </a:p>
        </p:txBody>
      </p:sp>
      <p:sp>
        <p:nvSpPr>
          <p:cNvPr id="29" name="TextBox 28"/>
          <p:cNvSpPr txBox="1"/>
          <p:nvPr/>
        </p:nvSpPr>
        <p:spPr>
          <a:xfrm>
            <a:off x="548640" y="4983480"/>
            <a:ext cx="11064240" cy="1188720"/>
          </a:xfrm>
          <a:prstGeom prst="rect">
            <a:avLst/>
          </a:prstGeom>
          <a:noFill/>
        </p:spPr>
        <p:txBody>
          <a:bodyPr wrap="square" lIns="0" tIns="0" rIns="0" bIns="0" anchor="t">
            <a:spAutoFit/>
          </a:bodyPr>
          <a:lstStyle/>
          <a:p>
            <a:pPr algn="l">
              <a:spcAft>
                <a:spcPts val="800"/>
              </a:spcAft>
            </a:pPr>
            <a:r>
              <a:rPr sz="1500" b="1" i="0">
                <a:solidFill>
                  <a:srgbClr val="1F3A5F"/>
                </a:solidFill>
                <a:latin typeface="Calibri"/>
              </a:rPr>
              <a:t>Why Rossmann? </a:t>
            </a:r>
            <a:r>
              <a:rPr sz="1500" b="0" i="0">
                <a:solidFill>
                  <a:srgbClr val="1E242C"/>
                </a:solidFill>
                <a:latin typeface="Calibri"/>
              </a:rPr>
              <a:t>Real retail data with exactly the drivers we need - promotions, public and school holidays, weekday, season, competition and store format. Public, free and a well-known benchmark.</a:t>
            </a:r>
          </a:p>
          <a:p>
            <a:pPr algn="l">
              <a:spcAft>
                <a:spcPts val="800"/>
              </a:spcAft>
            </a:pPr>
            <a:r>
              <a:rPr sz="1500" b="1" i="0">
                <a:solidFill>
                  <a:srgbClr val="1F3A5F"/>
                </a:solidFill>
                <a:latin typeface="Calibri"/>
              </a:rPr>
              <a:t>Cleaning: </a:t>
            </a:r>
            <a:r>
              <a:rPr sz="1500" b="0" i="0">
                <a:solidFill>
                  <a:srgbClr val="1E242C"/>
                </a:solidFill>
                <a:latin typeface="Calibri"/>
              </a:rPr>
              <a:t>dropped 180 stores with a 6-month refurbishment gap, re-indexed every store to a full calendar, every sales feature is at least 7 days old.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47472"/>
            <a:ext cx="8686800" cy="274320"/>
          </a:xfrm>
          <a:prstGeom prst="rect">
            <a:avLst/>
          </a:prstGeom>
          <a:noFill/>
        </p:spPr>
        <p:txBody>
          <a:bodyPr wrap="square" lIns="0" tIns="0" rIns="0" bIns="0" anchor="t">
            <a:spAutoFit/>
          </a:bodyPr>
          <a:lstStyle/>
          <a:p>
            <a:pPr algn="l"/>
            <a:r>
              <a:rPr sz="1100" b="1" i="0">
                <a:solidFill>
                  <a:srgbClr val="2E8B8B"/>
                </a:solidFill>
                <a:latin typeface="Calibri"/>
              </a:rPr>
              <a:t>EXPLORATORY ANALYSIS</a:t>
            </a:r>
          </a:p>
        </p:txBody>
      </p:sp>
      <p:sp>
        <p:nvSpPr>
          <p:cNvPr id="3" name="Title"/>
          <p:cNvSpPr txBox="1"/>
          <p:nvPr/>
        </p:nvSpPr>
        <p:spPr>
          <a:xfrm>
            <a:off x="548640" y="603504"/>
            <a:ext cx="11064240" cy="731520"/>
          </a:xfrm>
          <a:prstGeom prst="rect">
            <a:avLst/>
          </a:prstGeom>
          <a:noFill/>
        </p:spPr>
        <p:txBody>
          <a:bodyPr wrap="square" lIns="0" tIns="0" rIns="0" bIns="0" anchor="t">
            <a:spAutoFit/>
          </a:bodyPr>
          <a:lstStyle/>
          <a:p>
            <a:pPr algn="l"/>
            <a:r>
              <a:rPr sz="3000" b="1" i="0">
                <a:solidFill>
                  <a:srgbClr val="1F3A5F"/>
                </a:solidFill>
                <a:latin typeface="Cambria"/>
              </a:rPr>
              <a:t>Promotions add 40% - and timing matters</a:t>
            </a:r>
          </a:p>
        </p:txBody>
      </p:sp>
      <p:pic>
        <p:nvPicPr>
          <p:cNvPr id="4" name="Picture 3" descr="nmims_logo.png"/>
          <p:cNvPicPr>
            <a:picLocks noChangeAspect="1"/>
          </p:cNvPicPr>
          <p:nvPr/>
        </p:nvPicPr>
        <p:blipFill>
          <a:blip r:embed="rId3"/>
          <a:stretch>
            <a:fillRect/>
          </a:stretch>
        </p:blipFill>
        <p:spPr>
          <a:xfrm>
            <a:off x="11109960" y="274320"/>
            <a:ext cx="570527" cy="566928"/>
          </a:xfrm>
          <a:prstGeom prst="rect">
            <a:avLst/>
          </a:prstGeom>
        </p:spPr>
      </p:pic>
      <p:sp>
        <p:nvSpPr>
          <p:cNvPr id="5" name="TextBox 4"/>
          <p:cNvSpPr txBox="1"/>
          <p:nvPr/>
        </p:nvSpPr>
        <p:spPr>
          <a:xfrm>
            <a:off x="548640" y="6446520"/>
            <a:ext cx="5486400" cy="228600"/>
          </a:xfrm>
          <a:prstGeom prst="rect">
            <a:avLst/>
          </a:prstGeom>
          <a:noFill/>
        </p:spPr>
        <p:txBody>
          <a:bodyPr wrap="square" lIns="0" tIns="0" rIns="0" bIns="0" anchor="t">
            <a:spAutoFit/>
          </a:bodyPr>
          <a:lstStyle/>
          <a:p>
            <a:pPr algn="l"/>
            <a:r>
              <a:rPr sz="900" b="0" i="0">
                <a:solidFill>
                  <a:srgbClr val="8A8F98"/>
                </a:solidFill>
                <a:latin typeface="Calibri"/>
              </a:rPr>
              <a:t>DemandIQ  |  NMIMS MPSTME  |  Machine Learning, Sem V</a:t>
            </a:r>
          </a:p>
        </p:txBody>
      </p:sp>
      <p:sp>
        <p:nvSpPr>
          <p:cNvPr id="6" name="TextBox 5"/>
          <p:cNvSpPr txBox="1"/>
          <p:nvPr/>
        </p:nvSpPr>
        <p:spPr>
          <a:xfrm>
            <a:off x="11155680" y="6446520"/>
            <a:ext cx="502920" cy="228600"/>
          </a:xfrm>
          <a:prstGeom prst="rect">
            <a:avLst/>
          </a:prstGeom>
          <a:noFill/>
        </p:spPr>
        <p:txBody>
          <a:bodyPr wrap="square" lIns="0" tIns="0" rIns="0" bIns="0" anchor="t">
            <a:spAutoFit/>
          </a:bodyPr>
          <a:lstStyle/>
          <a:p>
            <a:pPr algn="r"/>
            <a:r>
              <a:rPr sz="900" b="0" i="0">
                <a:solidFill>
                  <a:srgbClr val="8A8F98"/>
                </a:solidFill>
                <a:latin typeface="Calibri"/>
              </a:rPr>
              <a:t>7</a:t>
            </a:r>
          </a:p>
        </p:txBody>
      </p:sp>
      <p:pic>
        <p:nvPicPr>
          <p:cNvPr id="7" name="Picture 6" descr="fig02_weekday_promo.png"/>
          <p:cNvPicPr>
            <a:picLocks noChangeAspect="1"/>
          </p:cNvPicPr>
          <p:nvPr/>
        </p:nvPicPr>
        <p:blipFill>
          <a:blip r:embed="rId4"/>
          <a:stretch>
            <a:fillRect/>
          </a:stretch>
        </p:blipFill>
        <p:spPr>
          <a:xfrm>
            <a:off x="548640" y="1697087"/>
            <a:ext cx="5212080" cy="2732305"/>
          </a:xfrm>
          <a:prstGeom prst="rect">
            <a:avLst/>
          </a:prstGeom>
        </p:spPr>
      </p:pic>
      <p:pic>
        <p:nvPicPr>
          <p:cNvPr id="8" name="Picture 7" descr="fig03_seasonality_calendar.png"/>
          <p:cNvPicPr>
            <a:picLocks noChangeAspect="1"/>
          </p:cNvPicPr>
          <p:nvPr/>
        </p:nvPicPr>
        <p:blipFill>
          <a:blip r:embed="rId5"/>
          <a:stretch>
            <a:fillRect/>
          </a:stretch>
        </p:blipFill>
        <p:spPr>
          <a:xfrm>
            <a:off x="5943600" y="2070516"/>
            <a:ext cx="5715000" cy="1985447"/>
          </a:xfrm>
          <a:prstGeom prst="rect">
            <a:avLst/>
          </a:prstGeom>
        </p:spPr>
      </p:pic>
      <p:sp>
        <p:nvSpPr>
          <p:cNvPr id="9" name="Rounded Rectangle 8"/>
          <p:cNvSpPr/>
          <p:nvPr/>
        </p:nvSpPr>
        <p:spPr>
          <a:xfrm>
            <a:off x="548640" y="4846320"/>
            <a:ext cx="3566160" cy="132588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77240" y="4956048"/>
            <a:ext cx="3108960" cy="365760"/>
          </a:xfrm>
          <a:prstGeom prst="rect">
            <a:avLst/>
          </a:prstGeom>
          <a:noFill/>
        </p:spPr>
        <p:txBody>
          <a:bodyPr wrap="square" lIns="0" tIns="0" rIns="0" bIns="0" anchor="t">
            <a:spAutoFit/>
          </a:bodyPr>
          <a:lstStyle/>
          <a:p>
            <a:pPr algn="l"/>
            <a:r>
              <a:rPr sz="1700" b="1" i="0">
                <a:solidFill>
                  <a:srgbClr val="1F3A5F"/>
                </a:solidFill>
                <a:latin typeface="Calibri"/>
              </a:rPr>
              <a:t>Promotions</a:t>
            </a:r>
          </a:p>
        </p:txBody>
      </p:sp>
      <p:sp>
        <p:nvSpPr>
          <p:cNvPr id="11" name="TextBox 10"/>
          <p:cNvSpPr txBox="1"/>
          <p:nvPr/>
        </p:nvSpPr>
        <p:spPr>
          <a:xfrm>
            <a:off x="777240" y="5321808"/>
            <a:ext cx="3154680" cy="777240"/>
          </a:xfrm>
          <a:prstGeom prst="rect">
            <a:avLst/>
          </a:prstGeom>
          <a:noFill/>
        </p:spPr>
        <p:txBody>
          <a:bodyPr wrap="square" lIns="0" tIns="0" rIns="0" bIns="0" anchor="t">
            <a:spAutoFit/>
          </a:bodyPr>
          <a:lstStyle/>
          <a:p>
            <a:pPr algn="l"/>
            <a:r>
              <a:rPr sz="1400" b="0" i="0">
                <a:solidFill>
                  <a:srgbClr val="1E242C"/>
                </a:solidFill>
                <a:latin typeface="Calibri"/>
              </a:rPr>
              <a:t>run on 45% of trading days and lift sales by about 40%</a:t>
            </a:r>
          </a:p>
        </p:txBody>
      </p:sp>
      <p:sp>
        <p:nvSpPr>
          <p:cNvPr id="12" name="Rounded Rectangle 11"/>
          <p:cNvSpPr/>
          <p:nvPr/>
        </p:nvSpPr>
        <p:spPr>
          <a:xfrm>
            <a:off x="4297679" y="4846320"/>
            <a:ext cx="3566160" cy="132588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526279" y="4956048"/>
            <a:ext cx="3108960" cy="365760"/>
          </a:xfrm>
          <a:prstGeom prst="rect">
            <a:avLst/>
          </a:prstGeom>
          <a:noFill/>
        </p:spPr>
        <p:txBody>
          <a:bodyPr wrap="square" lIns="0" tIns="0" rIns="0" bIns="0" anchor="t">
            <a:spAutoFit/>
          </a:bodyPr>
          <a:lstStyle/>
          <a:p>
            <a:pPr algn="l"/>
            <a:r>
              <a:rPr sz="1700" b="1" i="0">
                <a:solidFill>
                  <a:srgbClr val="1F3A5F"/>
                </a:solidFill>
                <a:latin typeface="Calibri"/>
              </a:rPr>
              <a:t>Weekly rhythm</a:t>
            </a:r>
          </a:p>
        </p:txBody>
      </p:sp>
      <p:sp>
        <p:nvSpPr>
          <p:cNvPr id="14" name="TextBox 13"/>
          <p:cNvSpPr txBox="1"/>
          <p:nvPr/>
        </p:nvSpPr>
        <p:spPr>
          <a:xfrm>
            <a:off x="4526279" y="5321808"/>
            <a:ext cx="3154680" cy="777240"/>
          </a:xfrm>
          <a:prstGeom prst="rect">
            <a:avLst/>
          </a:prstGeom>
          <a:noFill/>
        </p:spPr>
        <p:txBody>
          <a:bodyPr wrap="square" lIns="0" tIns="0" rIns="0" bIns="0" anchor="t">
            <a:spAutoFit/>
          </a:bodyPr>
          <a:lstStyle/>
          <a:p>
            <a:pPr algn="l"/>
            <a:r>
              <a:rPr sz="1400" b="0" i="0">
                <a:solidFill>
                  <a:srgbClr val="1E242C"/>
                </a:solidFill>
                <a:latin typeface="Calibri"/>
              </a:rPr>
              <a:t>Monday is the busiest day; most stores close on Sunday</a:t>
            </a:r>
          </a:p>
        </p:txBody>
      </p:sp>
      <p:sp>
        <p:nvSpPr>
          <p:cNvPr id="15" name="Rounded Rectangle 14"/>
          <p:cNvSpPr/>
          <p:nvPr/>
        </p:nvSpPr>
        <p:spPr>
          <a:xfrm>
            <a:off x="8046719" y="4846320"/>
            <a:ext cx="3566160" cy="132588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275319" y="4956048"/>
            <a:ext cx="3108960" cy="365760"/>
          </a:xfrm>
          <a:prstGeom prst="rect">
            <a:avLst/>
          </a:prstGeom>
          <a:noFill/>
        </p:spPr>
        <p:txBody>
          <a:bodyPr wrap="square" lIns="0" tIns="0" rIns="0" bIns="0" anchor="t">
            <a:spAutoFit/>
          </a:bodyPr>
          <a:lstStyle/>
          <a:p>
            <a:pPr algn="l"/>
            <a:r>
              <a:rPr sz="1700" b="1" i="0">
                <a:solidFill>
                  <a:srgbClr val="1F3A5F"/>
                </a:solidFill>
                <a:latin typeface="Calibri"/>
              </a:rPr>
              <a:t>Calendar</a:t>
            </a:r>
          </a:p>
        </p:txBody>
      </p:sp>
      <p:sp>
        <p:nvSpPr>
          <p:cNvPr id="17" name="TextBox 16"/>
          <p:cNvSpPr txBox="1"/>
          <p:nvPr/>
        </p:nvSpPr>
        <p:spPr>
          <a:xfrm>
            <a:off x="8275319" y="5321808"/>
            <a:ext cx="3154680" cy="777240"/>
          </a:xfrm>
          <a:prstGeom prst="rect">
            <a:avLst/>
          </a:prstGeom>
          <a:noFill/>
        </p:spPr>
        <p:txBody>
          <a:bodyPr wrap="square" lIns="0" tIns="0" rIns="0" bIns="0" anchor="t">
            <a:spAutoFit/>
          </a:bodyPr>
          <a:lstStyle/>
          <a:p>
            <a:pPr algn="l"/>
            <a:r>
              <a:rPr sz="1400" b="0" i="0">
                <a:solidFill>
                  <a:srgbClr val="1E242C"/>
                </a:solidFill>
                <a:latin typeface="Calibri"/>
              </a:rPr>
              <a:t>December peak; extra sales in school holidays and before public holidays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47472"/>
            <a:ext cx="8686800" cy="274320"/>
          </a:xfrm>
          <a:prstGeom prst="rect">
            <a:avLst/>
          </a:prstGeom>
          <a:noFill/>
        </p:spPr>
        <p:txBody>
          <a:bodyPr wrap="square" lIns="0" tIns="0" rIns="0" bIns="0" anchor="t">
            <a:spAutoFit/>
          </a:bodyPr>
          <a:lstStyle/>
          <a:p>
            <a:pPr algn="l"/>
            <a:r>
              <a:rPr sz="1100" b="1" i="0">
                <a:solidFill>
                  <a:srgbClr val="2E8B8B"/>
                </a:solidFill>
                <a:latin typeface="Calibri"/>
              </a:rPr>
              <a:t>SYSTEM DESIGN</a:t>
            </a:r>
          </a:p>
        </p:txBody>
      </p:sp>
      <p:sp>
        <p:nvSpPr>
          <p:cNvPr id="3" name="Title"/>
          <p:cNvSpPr txBox="1"/>
          <p:nvPr/>
        </p:nvSpPr>
        <p:spPr>
          <a:xfrm>
            <a:off x="548640" y="603504"/>
            <a:ext cx="11064240" cy="731520"/>
          </a:xfrm>
          <a:prstGeom prst="rect">
            <a:avLst/>
          </a:prstGeom>
          <a:noFill/>
        </p:spPr>
        <p:txBody>
          <a:bodyPr wrap="square" lIns="0" tIns="0" rIns="0" bIns="0" anchor="t">
            <a:spAutoFit/>
          </a:bodyPr>
          <a:lstStyle/>
          <a:p>
            <a:pPr algn="l"/>
            <a:r>
              <a:rPr sz="3000" b="1" i="0">
                <a:solidFill>
                  <a:srgbClr val="1F3A5F"/>
                </a:solidFill>
                <a:latin typeface="Cambria"/>
              </a:rPr>
              <a:t>Eight steps from raw sales to an explained order</a:t>
            </a:r>
          </a:p>
        </p:txBody>
      </p:sp>
      <p:pic>
        <p:nvPicPr>
          <p:cNvPr id="4" name="Picture 3" descr="nmims_logo.png"/>
          <p:cNvPicPr>
            <a:picLocks noChangeAspect="1"/>
          </p:cNvPicPr>
          <p:nvPr/>
        </p:nvPicPr>
        <p:blipFill>
          <a:blip r:embed="rId3"/>
          <a:stretch>
            <a:fillRect/>
          </a:stretch>
        </p:blipFill>
        <p:spPr>
          <a:xfrm>
            <a:off x="11109960" y="274320"/>
            <a:ext cx="570527" cy="566928"/>
          </a:xfrm>
          <a:prstGeom prst="rect">
            <a:avLst/>
          </a:prstGeom>
        </p:spPr>
      </p:pic>
      <p:sp>
        <p:nvSpPr>
          <p:cNvPr id="5" name="TextBox 4"/>
          <p:cNvSpPr txBox="1"/>
          <p:nvPr/>
        </p:nvSpPr>
        <p:spPr>
          <a:xfrm>
            <a:off x="548640" y="6446520"/>
            <a:ext cx="5486400" cy="228600"/>
          </a:xfrm>
          <a:prstGeom prst="rect">
            <a:avLst/>
          </a:prstGeom>
          <a:noFill/>
        </p:spPr>
        <p:txBody>
          <a:bodyPr wrap="square" lIns="0" tIns="0" rIns="0" bIns="0" anchor="t">
            <a:spAutoFit/>
          </a:bodyPr>
          <a:lstStyle/>
          <a:p>
            <a:pPr algn="l"/>
            <a:r>
              <a:rPr sz="900" b="0" i="0">
                <a:solidFill>
                  <a:srgbClr val="8A8F98"/>
                </a:solidFill>
                <a:latin typeface="Calibri"/>
              </a:rPr>
              <a:t>DemandIQ  |  NMIMS MPSTME  |  Machine Learning, Sem V</a:t>
            </a:r>
          </a:p>
        </p:txBody>
      </p:sp>
      <p:sp>
        <p:nvSpPr>
          <p:cNvPr id="6" name="TextBox 5"/>
          <p:cNvSpPr txBox="1"/>
          <p:nvPr/>
        </p:nvSpPr>
        <p:spPr>
          <a:xfrm>
            <a:off x="11155680" y="6446520"/>
            <a:ext cx="502920" cy="228600"/>
          </a:xfrm>
          <a:prstGeom prst="rect">
            <a:avLst/>
          </a:prstGeom>
          <a:noFill/>
        </p:spPr>
        <p:txBody>
          <a:bodyPr wrap="square" lIns="0" tIns="0" rIns="0" bIns="0" anchor="t">
            <a:spAutoFit/>
          </a:bodyPr>
          <a:lstStyle/>
          <a:p>
            <a:pPr algn="r"/>
            <a:r>
              <a:rPr sz="900" b="0" i="0">
                <a:solidFill>
                  <a:srgbClr val="8A8F98"/>
                </a:solidFill>
                <a:latin typeface="Calibri"/>
              </a:rPr>
              <a:t>8</a:t>
            </a:r>
          </a:p>
        </p:txBody>
      </p:sp>
      <p:pic>
        <p:nvPicPr>
          <p:cNvPr id="7" name="Picture 6" descr="fig00_architecture.png"/>
          <p:cNvPicPr>
            <a:picLocks noChangeAspect="1"/>
          </p:cNvPicPr>
          <p:nvPr/>
        </p:nvPicPr>
        <p:blipFill>
          <a:blip r:embed="rId4"/>
          <a:stretch>
            <a:fillRect/>
          </a:stretch>
        </p:blipFill>
        <p:spPr>
          <a:xfrm>
            <a:off x="1355463" y="1417320"/>
            <a:ext cx="9496312" cy="48920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47472"/>
            <a:ext cx="8686800" cy="274320"/>
          </a:xfrm>
          <a:prstGeom prst="rect">
            <a:avLst/>
          </a:prstGeom>
          <a:noFill/>
        </p:spPr>
        <p:txBody>
          <a:bodyPr wrap="square" lIns="0" tIns="0" rIns="0" bIns="0" anchor="t">
            <a:spAutoFit/>
          </a:bodyPr>
          <a:lstStyle/>
          <a:p>
            <a:pPr algn="l"/>
            <a:r>
              <a:rPr sz="1100" b="1" i="0">
                <a:solidFill>
                  <a:srgbClr val="2E8B8B"/>
                </a:solidFill>
                <a:latin typeface="Calibri"/>
              </a:rPr>
              <a:t>UNSUPERVISED LEARNING</a:t>
            </a:r>
          </a:p>
        </p:txBody>
      </p:sp>
      <p:sp>
        <p:nvSpPr>
          <p:cNvPr id="3" name="Title"/>
          <p:cNvSpPr txBox="1"/>
          <p:nvPr/>
        </p:nvSpPr>
        <p:spPr>
          <a:xfrm>
            <a:off x="548640" y="603504"/>
            <a:ext cx="11064240" cy="731520"/>
          </a:xfrm>
          <a:prstGeom prst="rect">
            <a:avLst/>
          </a:prstGeom>
          <a:noFill/>
        </p:spPr>
        <p:txBody>
          <a:bodyPr wrap="square" lIns="0" tIns="0" rIns="0" bIns="0" anchor="t">
            <a:spAutoFit/>
          </a:bodyPr>
          <a:lstStyle/>
          <a:p>
            <a:pPr algn="l"/>
            <a:r>
              <a:rPr sz="3000" b="1" i="0">
                <a:solidFill>
                  <a:srgbClr val="1F3A5F"/>
                </a:solidFill>
                <a:latin typeface="Cambria"/>
              </a:rPr>
              <a:t>K-Means finds four kinds of stores</a:t>
            </a:r>
          </a:p>
        </p:txBody>
      </p:sp>
      <p:pic>
        <p:nvPicPr>
          <p:cNvPr id="4" name="Picture 3" descr="nmims_logo.png"/>
          <p:cNvPicPr>
            <a:picLocks noChangeAspect="1"/>
          </p:cNvPicPr>
          <p:nvPr/>
        </p:nvPicPr>
        <p:blipFill>
          <a:blip r:embed="rId3"/>
          <a:stretch>
            <a:fillRect/>
          </a:stretch>
        </p:blipFill>
        <p:spPr>
          <a:xfrm>
            <a:off x="11109960" y="274320"/>
            <a:ext cx="570527" cy="566928"/>
          </a:xfrm>
          <a:prstGeom prst="rect">
            <a:avLst/>
          </a:prstGeom>
        </p:spPr>
      </p:pic>
      <p:sp>
        <p:nvSpPr>
          <p:cNvPr id="5" name="TextBox 4"/>
          <p:cNvSpPr txBox="1"/>
          <p:nvPr/>
        </p:nvSpPr>
        <p:spPr>
          <a:xfrm>
            <a:off x="548640" y="6446520"/>
            <a:ext cx="5486400" cy="228600"/>
          </a:xfrm>
          <a:prstGeom prst="rect">
            <a:avLst/>
          </a:prstGeom>
          <a:noFill/>
        </p:spPr>
        <p:txBody>
          <a:bodyPr wrap="square" lIns="0" tIns="0" rIns="0" bIns="0" anchor="t">
            <a:spAutoFit/>
          </a:bodyPr>
          <a:lstStyle/>
          <a:p>
            <a:pPr algn="l"/>
            <a:r>
              <a:rPr sz="900" b="0" i="0">
                <a:solidFill>
                  <a:srgbClr val="8A8F98"/>
                </a:solidFill>
                <a:latin typeface="Calibri"/>
              </a:rPr>
              <a:t>DemandIQ  |  NMIMS MPSTME  |  Machine Learning, Sem V</a:t>
            </a:r>
          </a:p>
        </p:txBody>
      </p:sp>
      <p:sp>
        <p:nvSpPr>
          <p:cNvPr id="6" name="TextBox 5"/>
          <p:cNvSpPr txBox="1"/>
          <p:nvPr/>
        </p:nvSpPr>
        <p:spPr>
          <a:xfrm>
            <a:off x="11155680" y="6446520"/>
            <a:ext cx="502920" cy="228600"/>
          </a:xfrm>
          <a:prstGeom prst="rect">
            <a:avLst/>
          </a:prstGeom>
          <a:noFill/>
        </p:spPr>
        <p:txBody>
          <a:bodyPr wrap="square" lIns="0" tIns="0" rIns="0" bIns="0" anchor="t">
            <a:spAutoFit/>
          </a:bodyPr>
          <a:lstStyle/>
          <a:p>
            <a:pPr algn="r"/>
            <a:r>
              <a:rPr sz="900" b="0" i="0">
                <a:solidFill>
                  <a:srgbClr val="8A8F98"/>
                </a:solidFill>
                <a:latin typeface="Calibri"/>
              </a:rPr>
              <a:t>9</a:t>
            </a:r>
          </a:p>
        </p:txBody>
      </p:sp>
      <p:pic>
        <p:nvPicPr>
          <p:cNvPr id="7" name="Picture 6" descr="fig06_segment_profiles.png"/>
          <p:cNvPicPr>
            <a:picLocks noChangeAspect="1"/>
          </p:cNvPicPr>
          <p:nvPr/>
        </p:nvPicPr>
        <p:blipFill>
          <a:blip r:embed="rId4"/>
          <a:stretch>
            <a:fillRect/>
          </a:stretch>
        </p:blipFill>
        <p:spPr>
          <a:xfrm>
            <a:off x="457200" y="1802227"/>
            <a:ext cx="6949440" cy="2613464"/>
          </a:xfrm>
          <a:prstGeom prst="rect">
            <a:avLst/>
          </a:prstGeom>
        </p:spPr>
      </p:pic>
      <p:sp>
        <p:nvSpPr>
          <p:cNvPr id="8" name="Oval 7"/>
          <p:cNvSpPr/>
          <p:nvPr/>
        </p:nvSpPr>
        <p:spPr>
          <a:xfrm>
            <a:off x="7726679" y="1618488"/>
            <a:ext cx="457200" cy="457200"/>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mbria"/>
              </a:rPr>
              <a:t>1</a:t>
            </a:r>
          </a:p>
        </p:txBody>
      </p:sp>
      <p:sp>
        <p:nvSpPr>
          <p:cNvPr id="9" name="TextBox 8"/>
          <p:cNvSpPr txBox="1"/>
          <p:nvPr/>
        </p:nvSpPr>
        <p:spPr>
          <a:xfrm>
            <a:off x="8321040" y="1554480"/>
            <a:ext cx="3383280" cy="320040"/>
          </a:xfrm>
          <a:prstGeom prst="rect">
            <a:avLst/>
          </a:prstGeom>
          <a:noFill/>
        </p:spPr>
        <p:txBody>
          <a:bodyPr wrap="square" lIns="0" tIns="0" rIns="0" bIns="0" anchor="t">
            <a:spAutoFit/>
          </a:bodyPr>
          <a:lstStyle/>
          <a:p>
            <a:pPr algn="l"/>
            <a:r>
              <a:rPr sz="1600" b="1" i="0">
                <a:solidFill>
                  <a:srgbClr val="1E242C"/>
                </a:solidFill>
                <a:latin typeface="Calibri"/>
              </a:rPr>
              <a:t>High-volume flagships  (192)</a:t>
            </a:r>
          </a:p>
        </p:txBody>
      </p:sp>
      <p:sp>
        <p:nvSpPr>
          <p:cNvPr id="10" name="TextBox 9"/>
          <p:cNvSpPr txBox="1"/>
          <p:nvPr/>
        </p:nvSpPr>
        <p:spPr>
          <a:xfrm>
            <a:off x="8321040" y="1892807"/>
            <a:ext cx="3383280" cy="365760"/>
          </a:xfrm>
          <a:prstGeom prst="rect">
            <a:avLst/>
          </a:prstGeom>
          <a:noFill/>
        </p:spPr>
        <p:txBody>
          <a:bodyPr wrap="square" lIns="0" tIns="0" rIns="0" bIns="0" anchor="t">
            <a:spAutoFit/>
          </a:bodyPr>
          <a:lstStyle/>
          <a:p>
            <a:pPr algn="l"/>
            <a:r>
              <a:rPr sz="1300" b="0" i="0">
                <a:solidFill>
                  <a:srgbClr val="5A6270"/>
                </a:solidFill>
                <a:latin typeface="Calibri"/>
              </a:rPr>
              <a:t>9,292/day, steady, close competitors</a:t>
            </a:r>
          </a:p>
        </p:txBody>
      </p:sp>
      <p:sp>
        <p:nvSpPr>
          <p:cNvPr id="11" name="Oval 10"/>
          <p:cNvSpPr/>
          <p:nvPr/>
        </p:nvSpPr>
        <p:spPr>
          <a:xfrm>
            <a:off x="7726679" y="2487168"/>
            <a:ext cx="457200" cy="457200"/>
          </a:xfrm>
          <a:prstGeom prst="ellipse">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mbria"/>
              </a:rPr>
              <a:t>2</a:t>
            </a:r>
          </a:p>
        </p:txBody>
      </p:sp>
      <p:sp>
        <p:nvSpPr>
          <p:cNvPr id="12" name="TextBox 11"/>
          <p:cNvSpPr txBox="1"/>
          <p:nvPr/>
        </p:nvSpPr>
        <p:spPr>
          <a:xfrm>
            <a:off x="8321040" y="2423159"/>
            <a:ext cx="3383280" cy="320040"/>
          </a:xfrm>
          <a:prstGeom prst="rect">
            <a:avLst/>
          </a:prstGeom>
          <a:noFill/>
        </p:spPr>
        <p:txBody>
          <a:bodyPr wrap="square" lIns="0" tIns="0" rIns="0" bIns="0" anchor="t">
            <a:spAutoFit/>
          </a:bodyPr>
          <a:lstStyle/>
          <a:p>
            <a:pPr algn="l"/>
            <a:r>
              <a:rPr sz="1600" b="1" i="0">
                <a:solidFill>
                  <a:srgbClr val="1E242C"/>
                </a:solidFill>
                <a:latin typeface="Calibri"/>
              </a:rPr>
              <a:t>Promotion-driven  (138)</a:t>
            </a:r>
          </a:p>
        </p:txBody>
      </p:sp>
      <p:sp>
        <p:nvSpPr>
          <p:cNvPr id="13" name="TextBox 12"/>
          <p:cNvSpPr txBox="1"/>
          <p:nvPr/>
        </p:nvSpPr>
        <p:spPr>
          <a:xfrm>
            <a:off x="8321040" y="2761487"/>
            <a:ext cx="3383280" cy="365760"/>
          </a:xfrm>
          <a:prstGeom prst="rect">
            <a:avLst/>
          </a:prstGeom>
          <a:noFill/>
        </p:spPr>
        <p:txBody>
          <a:bodyPr wrap="square" lIns="0" tIns="0" rIns="0" bIns="0" anchor="t">
            <a:spAutoFit/>
          </a:bodyPr>
          <a:lstStyle/>
          <a:p>
            <a:pPr algn="l"/>
            <a:r>
              <a:rPr sz="1300" b="0" i="0">
                <a:solidFill>
                  <a:srgbClr val="5A6270"/>
                </a:solidFill>
                <a:latin typeface="Calibri"/>
              </a:rPr>
              <a:t>+72% on promotion days, most volatile</a:t>
            </a:r>
          </a:p>
        </p:txBody>
      </p:sp>
      <p:sp>
        <p:nvSpPr>
          <p:cNvPr id="14" name="Oval 13"/>
          <p:cNvSpPr/>
          <p:nvPr/>
        </p:nvSpPr>
        <p:spPr>
          <a:xfrm>
            <a:off x="7726679" y="3355848"/>
            <a:ext cx="457200" cy="457200"/>
          </a:xfrm>
          <a:prstGeom prst="ellipse">
            <a:avLst/>
          </a:prstGeom>
          <a:solidFill>
            <a:srgbClr val="D98E0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mbria"/>
              </a:rPr>
              <a:t>3</a:t>
            </a:r>
          </a:p>
        </p:txBody>
      </p:sp>
      <p:sp>
        <p:nvSpPr>
          <p:cNvPr id="15" name="TextBox 14"/>
          <p:cNvSpPr txBox="1"/>
          <p:nvPr/>
        </p:nvSpPr>
        <p:spPr>
          <a:xfrm>
            <a:off x="8321040" y="3291839"/>
            <a:ext cx="3383280" cy="320040"/>
          </a:xfrm>
          <a:prstGeom prst="rect">
            <a:avLst/>
          </a:prstGeom>
          <a:noFill/>
        </p:spPr>
        <p:txBody>
          <a:bodyPr wrap="square" lIns="0" tIns="0" rIns="0" bIns="0" anchor="t">
            <a:spAutoFit/>
          </a:bodyPr>
          <a:lstStyle/>
          <a:p>
            <a:pPr algn="l"/>
            <a:r>
              <a:rPr sz="1600" b="1" i="0">
                <a:solidFill>
                  <a:srgbClr val="1E242C"/>
                </a:solidFill>
                <a:latin typeface="Calibri"/>
              </a:rPr>
              <a:t>Weekend &amp; seasonal  (284)</a:t>
            </a:r>
          </a:p>
        </p:txBody>
      </p:sp>
      <p:sp>
        <p:nvSpPr>
          <p:cNvPr id="16" name="TextBox 15"/>
          <p:cNvSpPr txBox="1"/>
          <p:nvPr/>
        </p:nvSpPr>
        <p:spPr>
          <a:xfrm>
            <a:off x="8321040" y="3630168"/>
            <a:ext cx="3383280" cy="365760"/>
          </a:xfrm>
          <a:prstGeom prst="rect">
            <a:avLst/>
          </a:prstGeom>
          <a:noFill/>
        </p:spPr>
        <p:txBody>
          <a:bodyPr wrap="square" lIns="0" tIns="0" rIns="0" bIns="0" anchor="t">
            <a:spAutoFit/>
          </a:bodyPr>
          <a:lstStyle/>
          <a:p>
            <a:pPr algn="l"/>
            <a:r>
              <a:rPr sz="1300" b="0" i="0">
                <a:solidFill>
                  <a:srgbClr val="5A6270"/>
                </a:solidFill>
                <a:latin typeface="Calibri"/>
              </a:rPr>
              <a:t>strong Saturdays and December</a:t>
            </a:r>
          </a:p>
        </p:txBody>
      </p:sp>
      <p:sp>
        <p:nvSpPr>
          <p:cNvPr id="17" name="Oval 16"/>
          <p:cNvSpPr/>
          <p:nvPr/>
        </p:nvSpPr>
        <p:spPr>
          <a:xfrm>
            <a:off x="7726679" y="4224528"/>
            <a:ext cx="457200" cy="457200"/>
          </a:xfrm>
          <a:prstGeom prst="ellipse">
            <a:avLst/>
          </a:prstGeom>
          <a:solidFill>
            <a:srgbClr val="B23A4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mbria"/>
              </a:rPr>
              <a:t>4</a:t>
            </a:r>
          </a:p>
        </p:txBody>
      </p:sp>
      <p:sp>
        <p:nvSpPr>
          <p:cNvPr id="18" name="TextBox 17"/>
          <p:cNvSpPr txBox="1"/>
          <p:nvPr/>
        </p:nvSpPr>
        <p:spPr>
          <a:xfrm>
            <a:off x="8321040" y="4160520"/>
            <a:ext cx="3383280" cy="320040"/>
          </a:xfrm>
          <a:prstGeom prst="rect">
            <a:avLst/>
          </a:prstGeom>
          <a:noFill/>
        </p:spPr>
        <p:txBody>
          <a:bodyPr wrap="square" lIns="0" tIns="0" rIns="0" bIns="0" anchor="t">
            <a:spAutoFit/>
          </a:bodyPr>
          <a:lstStyle/>
          <a:p>
            <a:pPr algn="l"/>
            <a:r>
              <a:rPr sz="1600" b="1" i="0">
                <a:solidFill>
                  <a:srgbClr val="1E242C"/>
                </a:solidFill>
                <a:latin typeface="Calibri"/>
              </a:rPr>
              <a:t>Steady neighbourhood  (321)</a:t>
            </a:r>
          </a:p>
        </p:txBody>
      </p:sp>
      <p:sp>
        <p:nvSpPr>
          <p:cNvPr id="19" name="TextBox 18"/>
          <p:cNvSpPr txBox="1"/>
          <p:nvPr/>
        </p:nvSpPr>
        <p:spPr>
          <a:xfrm>
            <a:off x="8321040" y="4498848"/>
            <a:ext cx="3383280" cy="365760"/>
          </a:xfrm>
          <a:prstGeom prst="rect">
            <a:avLst/>
          </a:prstGeom>
          <a:noFill/>
        </p:spPr>
        <p:txBody>
          <a:bodyPr wrap="square" lIns="0" tIns="0" rIns="0" bIns="0" anchor="t">
            <a:spAutoFit/>
          </a:bodyPr>
          <a:lstStyle/>
          <a:p>
            <a:pPr algn="l"/>
            <a:r>
              <a:rPr sz="1300" b="0" i="0">
                <a:solidFill>
                  <a:srgbClr val="5A6270"/>
                </a:solidFill>
                <a:latin typeface="Calibri"/>
              </a:rPr>
              <a:t>close to average on every trait</a:t>
            </a:r>
          </a:p>
        </p:txBody>
      </p:sp>
      <p:sp>
        <p:nvSpPr>
          <p:cNvPr id="20" name="Rounded Rectangle 19"/>
          <p:cNvSpPr/>
          <p:nvPr/>
        </p:nvSpPr>
        <p:spPr>
          <a:xfrm>
            <a:off x="548640" y="5074920"/>
            <a:ext cx="11109960" cy="105156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22960" y="5166360"/>
            <a:ext cx="10607040" cy="868680"/>
          </a:xfrm>
          <a:prstGeom prst="rect">
            <a:avLst/>
          </a:prstGeom>
          <a:noFill/>
        </p:spPr>
        <p:txBody>
          <a:bodyPr wrap="square" lIns="0" tIns="0" rIns="0" bIns="0" anchor="ctr">
            <a:spAutoFit/>
          </a:bodyPr>
          <a:lstStyle/>
          <a:p>
            <a:pPr algn="l"/>
            <a:r>
              <a:rPr sz="1500" b="1" i="0">
                <a:solidFill>
                  <a:srgbClr val="1F3A5F"/>
                </a:solidFill>
                <a:latin typeface="Calibri"/>
              </a:rPr>
              <a:t>Why it matters: </a:t>
            </a:r>
            <a:r>
              <a:rPr sz="1500" b="0" i="0">
                <a:solidFill>
                  <a:srgbClr val="1E242C"/>
                </a:solidFill>
                <a:latin typeface="Calibri"/>
              </a:rPr>
              <a:t>the same promotion lifts a promotion-driven store far more than a flagship, so one promotion plan and one safety buffer do not fit all stores. The segment is also a feature for both models.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47472"/>
            <a:ext cx="8686800" cy="274320"/>
          </a:xfrm>
          <a:prstGeom prst="rect">
            <a:avLst/>
          </a:prstGeom>
          <a:noFill/>
        </p:spPr>
        <p:txBody>
          <a:bodyPr wrap="square" lIns="0" tIns="0" rIns="0" bIns="0" anchor="t">
            <a:spAutoFit/>
          </a:bodyPr>
          <a:lstStyle/>
          <a:p>
            <a:pPr algn="l"/>
            <a:r>
              <a:rPr sz="1100" b="1" i="0">
                <a:solidFill>
                  <a:srgbClr val="2E8B8B"/>
                </a:solidFill>
                <a:latin typeface="Calibri"/>
              </a:rPr>
              <a:t>DEMAND FORECASTING</a:t>
            </a:r>
          </a:p>
        </p:txBody>
      </p:sp>
      <p:sp>
        <p:nvSpPr>
          <p:cNvPr id="3" name="Title"/>
          <p:cNvSpPr txBox="1"/>
          <p:nvPr/>
        </p:nvSpPr>
        <p:spPr>
          <a:xfrm>
            <a:off x="548640" y="603504"/>
            <a:ext cx="11064240" cy="731520"/>
          </a:xfrm>
          <a:prstGeom prst="rect">
            <a:avLst/>
          </a:prstGeom>
          <a:noFill/>
        </p:spPr>
        <p:txBody>
          <a:bodyPr wrap="square" lIns="0" tIns="0" rIns="0" bIns="0" anchor="t">
            <a:spAutoFit/>
          </a:bodyPr>
          <a:lstStyle/>
          <a:p>
            <a:pPr algn="l"/>
            <a:r>
              <a:rPr sz="3000" b="1" i="0">
                <a:solidFill>
                  <a:srgbClr val="1F3A5F"/>
                </a:solidFill>
                <a:latin typeface="Cambria"/>
              </a:rPr>
              <a:t>Gradient Boosting cuts forecast error to 8.0%</a:t>
            </a:r>
          </a:p>
        </p:txBody>
      </p:sp>
      <p:pic>
        <p:nvPicPr>
          <p:cNvPr id="4" name="Picture 3" descr="nmims_logo.png"/>
          <p:cNvPicPr>
            <a:picLocks noChangeAspect="1"/>
          </p:cNvPicPr>
          <p:nvPr/>
        </p:nvPicPr>
        <p:blipFill>
          <a:blip r:embed="rId3"/>
          <a:stretch>
            <a:fillRect/>
          </a:stretch>
        </p:blipFill>
        <p:spPr>
          <a:xfrm>
            <a:off x="11109960" y="274320"/>
            <a:ext cx="570527" cy="566928"/>
          </a:xfrm>
          <a:prstGeom prst="rect">
            <a:avLst/>
          </a:prstGeom>
        </p:spPr>
      </p:pic>
      <p:sp>
        <p:nvSpPr>
          <p:cNvPr id="5" name="TextBox 4"/>
          <p:cNvSpPr txBox="1"/>
          <p:nvPr/>
        </p:nvSpPr>
        <p:spPr>
          <a:xfrm>
            <a:off x="548640" y="6446520"/>
            <a:ext cx="5486400" cy="228600"/>
          </a:xfrm>
          <a:prstGeom prst="rect">
            <a:avLst/>
          </a:prstGeom>
          <a:noFill/>
        </p:spPr>
        <p:txBody>
          <a:bodyPr wrap="square" lIns="0" tIns="0" rIns="0" bIns="0" anchor="t">
            <a:spAutoFit/>
          </a:bodyPr>
          <a:lstStyle/>
          <a:p>
            <a:pPr algn="l"/>
            <a:r>
              <a:rPr sz="900" b="0" i="0">
                <a:solidFill>
                  <a:srgbClr val="8A8F98"/>
                </a:solidFill>
                <a:latin typeface="Calibri"/>
              </a:rPr>
              <a:t>DemandIQ  |  NMIMS MPSTME  |  Machine Learning, Sem V</a:t>
            </a:r>
          </a:p>
        </p:txBody>
      </p:sp>
      <p:sp>
        <p:nvSpPr>
          <p:cNvPr id="6" name="TextBox 5"/>
          <p:cNvSpPr txBox="1"/>
          <p:nvPr/>
        </p:nvSpPr>
        <p:spPr>
          <a:xfrm>
            <a:off x="11155680" y="6446520"/>
            <a:ext cx="502920" cy="228600"/>
          </a:xfrm>
          <a:prstGeom prst="rect">
            <a:avLst/>
          </a:prstGeom>
          <a:noFill/>
        </p:spPr>
        <p:txBody>
          <a:bodyPr wrap="square" lIns="0" tIns="0" rIns="0" bIns="0" anchor="t">
            <a:spAutoFit/>
          </a:bodyPr>
          <a:lstStyle/>
          <a:p>
            <a:pPr algn="r"/>
            <a:r>
              <a:rPr sz="900" b="0" i="0">
                <a:solidFill>
                  <a:srgbClr val="8A8F98"/>
                </a:solidFill>
                <a:latin typeface="Calibri"/>
              </a:rPr>
              <a:t>10</a:t>
            </a:r>
          </a:p>
        </p:txBody>
      </p:sp>
      <p:graphicFrame>
        <p:nvGraphicFramePr>
          <p:cNvPr id="7" name="Chart 6"/>
          <p:cNvGraphicFramePr>
            <a:graphicFrameLocks noGrp="1"/>
          </p:cNvGraphicFramePr>
          <p:nvPr/>
        </p:nvGraphicFramePr>
        <p:xfrm>
          <a:off x="548640" y="1463040"/>
          <a:ext cx="6949440" cy="4663440"/>
        </p:xfrm>
        <a:graphic>
          <a:graphicData uri="http://schemas.openxmlformats.org/drawingml/2006/chart">
            <c:chart xmlns:c="http://schemas.openxmlformats.org/drawingml/2006/chart" xmlns:r="http://schemas.openxmlformats.org/officeDocument/2006/relationships" r:id="rId4"/>
          </a:graphicData>
        </a:graphic>
      </p:graphicFrame>
      <p:sp>
        <p:nvSpPr>
          <p:cNvPr id="8" name="Rounded Rectangle 7"/>
          <p:cNvSpPr/>
          <p:nvPr/>
        </p:nvSpPr>
        <p:spPr>
          <a:xfrm>
            <a:off x="7863840" y="1508760"/>
            <a:ext cx="3794760" cy="137160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138160" y="1618488"/>
            <a:ext cx="3291840" cy="640080"/>
          </a:xfrm>
          <a:prstGeom prst="rect">
            <a:avLst/>
          </a:prstGeom>
          <a:noFill/>
        </p:spPr>
        <p:txBody>
          <a:bodyPr wrap="square" lIns="0" tIns="0" rIns="0" bIns="0" anchor="t">
            <a:spAutoFit/>
          </a:bodyPr>
          <a:lstStyle/>
          <a:p>
            <a:pPr algn="l"/>
            <a:r>
              <a:rPr sz="3200" b="1" i="0">
                <a:solidFill>
                  <a:srgbClr val="1F3A5F"/>
                </a:solidFill>
                <a:latin typeface="Cambria"/>
              </a:rPr>
              <a:t>0.941</a:t>
            </a:r>
          </a:p>
        </p:txBody>
      </p:sp>
      <p:sp>
        <p:nvSpPr>
          <p:cNvPr id="10" name="TextBox 9"/>
          <p:cNvSpPr txBox="1"/>
          <p:nvPr/>
        </p:nvSpPr>
        <p:spPr>
          <a:xfrm>
            <a:off x="8138160" y="2240280"/>
            <a:ext cx="3337560" cy="548640"/>
          </a:xfrm>
          <a:prstGeom prst="rect">
            <a:avLst/>
          </a:prstGeom>
          <a:noFill/>
        </p:spPr>
        <p:txBody>
          <a:bodyPr wrap="square" lIns="0" tIns="0" rIns="0" bIns="0" anchor="t">
            <a:spAutoFit/>
          </a:bodyPr>
          <a:lstStyle/>
          <a:p>
            <a:pPr algn="l"/>
            <a:r>
              <a:rPr sz="1400" b="0" i="0">
                <a:solidFill>
                  <a:srgbClr val="5A6270"/>
                </a:solidFill>
                <a:latin typeface="Calibri"/>
              </a:rPr>
              <a:t>R² on the test window</a:t>
            </a:r>
          </a:p>
        </p:txBody>
      </p:sp>
      <p:sp>
        <p:nvSpPr>
          <p:cNvPr id="11" name="Rounded Rectangle 10"/>
          <p:cNvSpPr/>
          <p:nvPr/>
        </p:nvSpPr>
        <p:spPr>
          <a:xfrm>
            <a:off x="7863840" y="3063239"/>
            <a:ext cx="3794760" cy="137160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138160" y="3172968"/>
            <a:ext cx="3291840" cy="640080"/>
          </a:xfrm>
          <a:prstGeom prst="rect">
            <a:avLst/>
          </a:prstGeom>
          <a:noFill/>
        </p:spPr>
        <p:txBody>
          <a:bodyPr wrap="square" lIns="0" tIns="0" rIns="0" bIns="0" anchor="t">
            <a:spAutoFit/>
          </a:bodyPr>
          <a:lstStyle/>
          <a:p>
            <a:pPr algn="l"/>
            <a:r>
              <a:rPr sz="3200" b="1" i="0">
                <a:solidFill>
                  <a:srgbClr val="1F3A5F"/>
                </a:solidFill>
                <a:latin typeface="Cambria"/>
              </a:rPr>
              <a:t>+0.4%</a:t>
            </a:r>
          </a:p>
        </p:txBody>
      </p:sp>
      <p:sp>
        <p:nvSpPr>
          <p:cNvPr id="13" name="TextBox 12"/>
          <p:cNvSpPr txBox="1"/>
          <p:nvPr/>
        </p:nvSpPr>
        <p:spPr>
          <a:xfrm>
            <a:off x="8138160" y="3794759"/>
            <a:ext cx="3337560" cy="548640"/>
          </a:xfrm>
          <a:prstGeom prst="rect">
            <a:avLst/>
          </a:prstGeom>
          <a:noFill/>
        </p:spPr>
        <p:txBody>
          <a:bodyPr wrap="square" lIns="0" tIns="0" rIns="0" bIns="0" anchor="t">
            <a:spAutoFit/>
          </a:bodyPr>
          <a:lstStyle/>
          <a:p>
            <a:pPr algn="l"/>
            <a:r>
              <a:rPr sz="1400" b="0" i="0">
                <a:solidFill>
                  <a:srgbClr val="5A6270"/>
                </a:solidFill>
                <a:latin typeface="Calibri"/>
              </a:rPr>
              <a:t>bias - almost no systematic over- or under-forecast</a:t>
            </a:r>
          </a:p>
        </p:txBody>
      </p:sp>
      <p:sp>
        <p:nvSpPr>
          <p:cNvPr id="14" name="Rounded Rectangle 13"/>
          <p:cNvSpPr/>
          <p:nvPr/>
        </p:nvSpPr>
        <p:spPr>
          <a:xfrm>
            <a:off x="7863840" y="4617720"/>
            <a:ext cx="3794760" cy="137160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138160" y="4727448"/>
            <a:ext cx="3291840" cy="640080"/>
          </a:xfrm>
          <a:prstGeom prst="rect">
            <a:avLst/>
          </a:prstGeom>
          <a:noFill/>
        </p:spPr>
        <p:txBody>
          <a:bodyPr wrap="square" lIns="0" tIns="0" rIns="0" bIns="0" anchor="t">
            <a:spAutoFit/>
          </a:bodyPr>
          <a:lstStyle/>
          <a:p>
            <a:pPr algn="l"/>
            <a:r>
              <a:rPr sz="3200" b="1" i="0">
                <a:solidFill>
                  <a:srgbClr val="1F3A5F"/>
                </a:solidFill>
                <a:latin typeface="Cambria"/>
              </a:rPr>
              <a:t>73%</a:t>
            </a:r>
          </a:p>
        </p:txBody>
      </p:sp>
      <p:sp>
        <p:nvSpPr>
          <p:cNvPr id="16" name="TextBox 15"/>
          <p:cNvSpPr txBox="1"/>
          <p:nvPr/>
        </p:nvSpPr>
        <p:spPr>
          <a:xfrm>
            <a:off x="8138160" y="5349240"/>
            <a:ext cx="3337560" cy="548640"/>
          </a:xfrm>
          <a:prstGeom prst="rect">
            <a:avLst/>
          </a:prstGeom>
          <a:noFill/>
        </p:spPr>
        <p:txBody>
          <a:bodyPr wrap="square" lIns="0" tIns="0" rIns="0" bIns="0" anchor="t">
            <a:spAutoFit/>
          </a:bodyPr>
          <a:lstStyle/>
          <a:p>
            <a:pPr algn="l"/>
            <a:r>
              <a:rPr sz="1400" b="0" i="0">
                <a:solidFill>
                  <a:srgbClr val="5A6270"/>
                </a:solidFill>
                <a:latin typeface="Calibri"/>
              </a:rPr>
              <a:t>of days inside the P10-P90 range (target 80%)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47472"/>
            <a:ext cx="8686800" cy="274320"/>
          </a:xfrm>
          <a:prstGeom prst="rect">
            <a:avLst/>
          </a:prstGeom>
          <a:noFill/>
        </p:spPr>
        <p:txBody>
          <a:bodyPr wrap="square" lIns="0" tIns="0" rIns="0" bIns="0" anchor="t">
            <a:spAutoFit/>
          </a:bodyPr>
          <a:lstStyle/>
          <a:p>
            <a:pPr algn="l"/>
            <a:r>
              <a:rPr sz="1100" b="1" i="0">
                <a:solidFill>
                  <a:srgbClr val="2E8B8B"/>
                </a:solidFill>
                <a:latin typeface="Calibri"/>
              </a:rPr>
              <a:t>DEMAND FORECASTING</a:t>
            </a:r>
          </a:p>
        </p:txBody>
      </p:sp>
      <p:sp>
        <p:nvSpPr>
          <p:cNvPr id="3" name="Title"/>
          <p:cNvSpPr txBox="1"/>
          <p:nvPr/>
        </p:nvSpPr>
        <p:spPr>
          <a:xfrm>
            <a:off x="548640" y="603504"/>
            <a:ext cx="11064240" cy="731520"/>
          </a:xfrm>
          <a:prstGeom prst="rect">
            <a:avLst/>
          </a:prstGeom>
          <a:noFill/>
        </p:spPr>
        <p:txBody>
          <a:bodyPr wrap="square" lIns="0" tIns="0" rIns="0" bIns="0" anchor="t">
            <a:spAutoFit/>
          </a:bodyPr>
          <a:lstStyle/>
          <a:p>
            <a:pPr algn="l"/>
            <a:r>
              <a:rPr sz="3000" b="1" i="0">
                <a:solidFill>
                  <a:srgbClr val="1F3A5F"/>
                </a:solidFill>
                <a:latin typeface="Cambria"/>
              </a:rPr>
              <a:t>The forecast follows promotions and Monday peaks</a:t>
            </a:r>
          </a:p>
        </p:txBody>
      </p:sp>
      <p:pic>
        <p:nvPicPr>
          <p:cNvPr id="4" name="Picture 3" descr="nmims_logo.png"/>
          <p:cNvPicPr>
            <a:picLocks noChangeAspect="1"/>
          </p:cNvPicPr>
          <p:nvPr/>
        </p:nvPicPr>
        <p:blipFill>
          <a:blip r:embed="rId3"/>
          <a:stretch>
            <a:fillRect/>
          </a:stretch>
        </p:blipFill>
        <p:spPr>
          <a:xfrm>
            <a:off x="11109960" y="274320"/>
            <a:ext cx="570527" cy="566928"/>
          </a:xfrm>
          <a:prstGeom prst="rect">
            <a:avLst/>
          </a:prstGeom>
        </p:spPr>
      </p:pic>
      <p:sp>
        <p:nvSpPr>
          <p:cNvPr id="5" name="TextBox 4"/>
          <p:cNvSpPr txBox="1"/>
          <p:nvPr/>
        </p:nvSpPr>
        <p:spPr>
          <a:xfrm>
            <a:off x="548640" y="6446520"/>
            <a:ext cx="5486400" cy="228600"/>
          </a:xfrm>
          <a:prstGeom prst="rect">
            <a:avLst/>
          </a:prstGeom>
          <a:noFill/>
        </p:spPr>
        <p:txBody>
          <a:bodyPr wrap="square" lIns="0" tIns="0" rIns="0" bIns="0" anchor="t">
            <a:spAutoFit/>
          </a:bodyPr>
          <a:lstStyle/>
          <a:p>
            <a:pPr algn="l"/>
            <a:r>
              <a:rPr sz="900" b="0" i="0">
                <a:solidFill>
                  <a:srgbClr val="8A8F98"/>
                </a:solidFill>
                <a:latin typeface="Calibri"/>
              </a:rPr>
              <a:t>DemandIQ  |  NMIMS MPSTME  |  Machine Learning, Sem V</a:t>
            </a:r>
          </a:p>
        </p:txBody>
      </p:sp>
      <p:sp>
        <p:nvSpPr>
          <p:cNvPr id="6" name="TextBox 5"/>
          <p:cNvSpPr txBox="1"/>
          <p:nvPr/>
        </p:nvSpPr>
        <p:spPr>
          <a:xfrm>
            <a:off x="11155680" y="6446520"/>
            <a:ext cx="502920" cy="228600"/>
          </a:xfrm>
          <a:prstGeom prst="rect">
            <a:avLst/>
          </a:prstGeom>
          <a:noFill/>
        </p:spPr>
        <p:txBody>
          <a:bodyPr wrap="square" lIns="0" tIns="0" rIns="0" bIns="0" anchor="t">
            <a:spAutoFit/>
          </a:bodyPr>
          <a:lstStyle/>
          <a:p>
            <a:pPr algn="r"/>
            <a:r>
              <a:rPr sz="900" b="0" i="0">
                <a:solidFill>
                  <a:srgbClr val="8A8F98"/>
                </a:solidFill>
                <a:latin typeface="Calibri"/>
              </a:rPr>
              <a:t>11</a:t>
            </a:r>
          </a:p>
        </p:txBody>
      </p:sp>
      <p:pic>
        <p:nvPicPr>
          <p:cNvPr id="7" name="Picture 6" descr="fig10_forecast_examples.png"/>
          <p:cNvPicPr>
            <a:picLocks noChangeAspect="1"/>
          </p:cNvPicPr>
          <p:nvPr/>
        </p:nvPicPr>
        <p:blipFill>
          <a:blip r:embed="rId4"/>
          <a:stretch>
            <a:fillRect/>
          </a:stretch>
        </p:blipFill>
        <p:spPr>
          <a:xfrm>
            <a:off x="1133981" y="1371600"/>
            <a:ext cx="6693156" cy="4937760"/>
          </a:xfrm>
          <a:prstGeom prst="rect">
            <a:avLst/>
          </a:prstGeom>
        </p:spPr>
      </p:pic>
      <p:sp>
        <p:nvSpPr>
          <p:cNvPr id="8" name="Rounded Rectangle 7"/>
          <p:cNvSpPr/>
          <p:nvPr/>
        </p:nvSpPr>
        <p:spPr>
          <a:xfrm>
            <a:off x="8686800" y="1508760"/>
            <a:ext cx="2971800" cy="141732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915400" y="1618488"/>
            <a:ext cx="2606040" cy="365760"/>
          </a:xfrm>
          <a:prstGeom prst="rect">
            <a:avLst/>
          </a:prstGeom>
          <a:noFill/>
        </p:spPr>
        <p:txBody>
          <a:bodyPr wrap="square" lIns="0" tIns="0" rIns="0" bIns="0" anchor="t">
            <a:spAutoFit/>
          </a:bodyPr>
          <a:lstStyle/>
          <a:p>
            <a:pPr algn="l"/>
            <a:r>
              <a:rPr sz="1600" b="1" i="0">
                <a:solidFill>
                  <a:srgbClr val="1F3A5F"/>
                </a:solidFill>
                <a:latin typeface="Calibri"/>
              </a:rPr>
              <a:t>Leak-free by design</a:t>
            </a:r>
          </a:p>
        </p:txBody>
      </p:sp>
      <p:sp>
        <p:nvSpPr>
          <p:cNvPr id="10" name="TextBox 9"/>
          <p:cNvSpPr txBox="1"/>
          <p:nvPr/>
        </p:nvSpPr>
        <p:spPr>
          <a:xfrm>
            <a:off x="8915400" y="1984248"/>
            <a:ext cx="2606040" cy="914400"/>
          </a:xfrm>
          <a:prstGeom prst="rect">
            <a:avLst/>
          </a:prstGeom>
          <a:noFill/>
        </p:spPr>
        <p:txBody>
          <a:bodyPr wrap="square" lIns="0" tIns="0" rIns="0" bIns="0" anchor="t">
            <a:spAutoFit/>
          </a:bodyPr>
          <a:lstStyle/>
          <a:p>
            <a:pPr algn="l"/>
            <a:r>
              <a:rPr sz="1300" b="0" i="0">
                <a:solidFill>
                  <a:srgbClr val="1E242C"/>
                </a:solidFill>
                <a:latin typeface="Calibri"/>
              </a:rPr>
              <a:t>Every sales feature is at least 7 days old, so one model forecasts the whole coming week.</a:t>
            </a:r>
          </a:p>
        </p:txBody>
      </p:sp>
      <p:sp>
        <p:nvSpPr>
          <p:cNvPr id="11" name="Rounded Rectangle 10"/>
          <p:cNvSpPr/>
          <p:nvPr/>
        </p:nvSpPr>
        <p:spPr>
          <a:xfrm>
            <a:off x="8686800" y="3108960"/>
            <a:ext cx="2971800" cy="141732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915400" y="3218688"/>
            <a:ext cx="2606040" cy="365760"/>
          </a:xfrm>
          <a:prstGeom prst="rect">
            <a:avLst/>
          </a:prstGeom>
          <a:noFill/>
        </p:spPr>
        <p:txBody>
          <a:bodyPr wrap="square" lIns="0" tIns="0" rIns="0" bIns="0" anchor="t">
            <a:spAutoFit/>
          </a:bodyPr>
          <a:lstStyle/>
          <a:p>
            <a:pPr algn="l"/>
            <a:r>
              <a:rPr sz="1600" b="1" i="0">
                <a:solidFill>
                  <a:srgbClr val="1F3A5F"/>
                </a:solidFill>
                <a:latin typeface="Calibri"/>
              </a:rPr>
              <a:t>Uncertainty, not just a number</a:t>
            </a:r>
          </a:p>
        </p:txBody>
      </p:sp>
      <p:sp>
        <p:nvSpPr>
          <p:cNvPr id="13" name="TextBox 12"/>
          <p:cNvSpPr txBox="1"/>
          <p:nvPr/>
        </p:nvSpPr>
        <p:spPr>
          <a:xfrm>
            <a:off x="8915400" y="3584448"/>
            <a:ext cx="2606040" cy="914400"/>
          </a:xfrm>
          <a:prstGeom prst="rect">
            <a:avLst/>
          </a:prstGeom>
          <a:noFill/>
        </p:spPr>
        <p:txBody>
          <a:bodyPr wrap="square" lIns="0" tIns="0" rIns="0" bIns="0" anchor="t">
            <a:spAutoFit/>
          </a:bodyPr>
          <a:lstStyle/>
          <a:p>
            <a:pPr algn="l"/>
            <a:r>
              <a:rPr sz="1300" b="0" i="0">
                <a:solidFill>
                  <a:srgbClr val="1E242C"/>
                </a:solidFill>
                <a:latin typeface="Calibri"/>
              </a:rPr>
              <a:t>Quantile models give P10 and P90; the band feeds the safety stock.</a:t>
            </a:r>
          </a:p>
        </p:txBody>
      </p:sp>
      <p:sp>
        <p:nvSpPr>
          <p:cNvPr id="14" name="Rounded Rectangle 13"/>
          <p:cNvSpPr/>
          <p:nvPr/>
        </p:nvSpPr>
        <p:spPr>
          <a:xfrm>
            <a:off x="8686800" y="4709160"/>
            <a:ext cx="2971800" cy="141732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915400" y="4818888"/>
            <a:ext cx="2606040" cy="365760"/>
          </a:xfrm>
          <a:prstGeom prst="rect">
            <a:avLst/>
          </a:prstGeom>
          <a:noFill/>
        </p:spPr>
        <p:txBody>
          <a:bodyPr wrap="square" lIns="0" tIns="0" rIns="0" bIns="0" anchor="t">
            <a:spAutoFit/>
          </a:bodyPr>
          <a:lstStyle/>
          <a:p>
            <a:pPr algn="l"/>
            <a:r>
              <a:rPr sz="1600" b="1" i="0">
                <a:solidFill>
                  <a:srgbClr val="1F3A5F"/>
                </a:solidFill>
                <a:latin typeface="Calibri"/>
              </a:rPr>
              <a:t>Honest tuning</a:t>
            </a:r>
          </a:p>
        </p:txBody>
      </p:sp>
      <p:sp>
        <p:nvSpPr>
          <p:cNvPr id="16" name="TextBox 15"/>
          <p:cNvSpPr txBox="1"/>
          <p:nvPr/>
        </p:nvSpPr>
        <p:spPr>
          <a:xfrm>
            <a:off x="8915400" y="5184648"/>
            <a:ext cx="2606040" cy="914400"/>
          </a:xfrm>
          <a:prstGeom prst="rect">
            <a:avLst/>
          </a:prstGeom>
          <a:noFill/>
        </p:spPr>
        <p:txBody>
          <a:bodyPr wrap="square" lIns="0" tIns="0" rIns="0" bIns="0" anchor="t">
            <a:spAutoFit/>
          </a:bodyPr>
          <a:lstStyle/>
          <a:p>
            <a:pPr algn="l"/>
            <a:r>
              <a:rPr sz="1300" b="0" i="0">
                <a:solidFill>
                  <a:srgbClr val="1E242C"/>
                </a:solidFill>
                <a:latin typeface="Calibri"/>
              </a:rPr>
              <a:t>Grid search on Apr-May; the test window was opened only once.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47472"/>
            <a:ext cx="8686800" cy="274320"/>
          </a:xfrm>
          <a:prstGeom prst="rect">
            <a:avLst/>
          </a:prstGeom>
          <a:noFill/>
        </p:spPr>
        <p:txBody>
          <a:bodyPr wrap="square" lIns="0" tIns="0" rIns="0" bIns="0" anchor="t">
            <a:spAutoFit/>
          </a:bodyPr>
          <a:lstStyle/>
          <a:p>
            <a:pPr algn="l"/>
            <a:r>
              <a:rPr sz="1100" b="1" i="0">
                <a:solidFill>
                  <a:srgbClr val="2E8B8B"/>
                </a:solidFill>
                <a:latin typeface="Calibri"/>
              </a:rPr>
              <a:t>CREATING STOCK DATA</a:t>
            </a:r>
          </a:p>
        </p:txBody>
      </p:sp>
      <p:sp>
        <p:nvSpPr>
          <p:cNvPr id="3" name="Title"/>
          <p:cNvSpPr txBox="1"/>
          <p:nvPr/>
        </p:nvSpPr>
        <p:spPr>
          <a:xfrm>
            <a:off x="548640" y="603504"/>
            <a:ext cx="11064240" cy="731520"/>
          </a:xfrm>
          <a:prstGeom prst="rect">
            <a:avLst/>
          </a:prstGeom>
          <a:noFill/>
        </p:spPr>
        <p:txBody>
          <a:bodyPr wrap="square" lIns="0" tIns="0" rIns="0" bIns="0" anchor="t">
            <a:spAutoFit/>
          </a:bodyPr>
          <a:lstStyle/>
          <a:p>
            <a:pPr algn="l"/>
            <a:r>
              <a:rPr sz="3000" b="1" i="0">
                <a:solidFill>
                  <a:srgbClr val="1F3A5F"/>
                </a:solidFill>
                <a:latin typeface="Cambria"/>
              </a:rPr>
              <a:t>Rossmann has no stock data - so we replayed it</a:t>
            </a:r>
          </a:p>
        </p:txBody>
      </p:sp>
      <p:pic>
        <p:nvPicPr>
          <p:cNvPr id="4" name="Picture 3" descr="nmims_logo.png"/>
          <p:cNvPicPr>
            <a:picLocks noChangeAspect="1"/>
          </p:cNvPicPr>
          <p:nvPr/>
        </p:nvPicPr>
        <p:blipFill>
          <a:blip r:embed="rId3"/>
          <a:stretch>
            <a:fillRect/>
          </a:stretch>
        </p:blipFill>
        <p:spPr>
          <a:xfrm>
            <a:off x="11109960" y="274320"/>
            <a:ext cx="570527" cy="566928"/>
          </a:xfrm>
          <a:prstGeom prst="rect">
            <a:avLst/>
          </a:prstGeom>
        </p:spPr>
      </p:pic>
      <p:sp>
        <p:nvSpPr>
          <p:cNvPr id="5" name="TextBox 4"/>
          <p:cNvSpPr txBox="1"/>
          <p:nvPr/>
        </p:nvSpPr>
        <p:spPr>
          <a:xfrm>
            <a:off x="548640" y="6446520"/>
            <a:ext cx="5486400" cy="228600"/>
          </a:xfrm>
          <a:prstGeom prst="rect">
            <a:avLst/>
          </a:prstGeom>
          <a:noFill/>
        </p:spPr>
        <p:txBody>
          <a:bodyPr wrap="square" lIns="0" tIns="0" rIns="0" bIns="0" anchor="t">
            <a:spAutoFit/>
          </a:bodyPr>
          <a:lstStyle/>
          <a:p>
            <a:pPr algn="l"/>
            <a:r>
              <a:rPr sz="900" b="0" i="0">
                <a:solidFill>
                  <a:srgbClr val="8A8F98"/>
                </a:solidFill>
                <a:latin typeface="Calibri"/>
              </a:rPr>
              <a:t>DemandIQ  |  NMIMS MPSTME  |  Machine Learning, Sem V</a:t>
            </a:r>
          </a:p>
        </p:txBody>
      </p:sp>
      <p:sp>
        <p:nvSpPr>
          <p:cNvPr id="6" name="TextBox 5"/>
          <p:cNvSpPr txBox="1"/>
          <p:nvPr/>
        </p:nvSpPr>
        <p:spPr>
          <a:xfrm>
            <a:off x="11155680" y="6446520"/>
            <a:ext cx="502920" cy="228600"/>
          </a:xfrm>
          <a:prstGeom prst="rect">
            <a:avLst/>
          </a:prstGeom>
          <a:noFill/>
        </p:spPr>
        <p:txBody>
          <a:bodyPr wrap="square" lIns="0" tIns="0" rIns="0" bIns="0" anchor="t">
            <a:spAutoFit/>
          </a:bodyPr>
          <a:lstStyle/>
          <a:p>
            <a:pPr algn="r"/>
            <a:r>
              <a:rPr sz="900" b="0" i="0">
                <a:solidFill>
                  <a:srgbClr val="8A8F98"/>
                </a:solidFill>
                <a:latin typeface="Calibri"/>
              </a:rPr>
              <a:t>12</a:t>
            </a:r>
          </a:p>
        </p:txBody>
      </p:sp>
      <p:pic>
        <p:nvPicPr>
          <p:cNvPr id="7" name="Picture 6" descr="fig12_inventory_replay.png"/>
          <p:cNvPicPr>
            <a:picLocks noChangeAspect="1"/>
          </p:cNvPicPr>
          <p:nvPr/>
        </p:nvPicPr>
        <p:blipFill>
          <a:blip r:embed="rId4"/>
          <a:stretch>
            <a:fillRect/>
          </a:stretch>
        </p:blipFill>
        <p:spPr>
          <a:xfrm>
            <a:off x="548640" y="1650083"/>
            <a:ext cx="7223760" cy="2643433"/>
          </a:xfrm>
          <a:prstGeom prst="rect">
            <a:avLst/>
          </a:prstGeom>
        </p:spPr>
      </p:pic>
      <p:sp>
        <p:nvSpPr>
          <p:cNvPr id="8" name="Oval 7"/>
          <p:cNvSpPr/>
          <p:nvPr/>
        </p:nvSpPr>
        <p:spPr>
          <a:xfrm>
            <a:off x="8092440" y="1581912"/>
            <a:ext cx="548640" cy="548640"/>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mbria"/>
              </a:rPr>
              <a:t>1</a:t>
            </a:r>
          </a:p>
        </p:txBody>
      </p:sp>
      <p:sp>
        <p:nvSpPr>
          <p:cNvPr id="9" name="TextBox 8"/>
          <p:cNvSpPr txBox="1"/>
          <p:nvPr/>
        </p:nvSpPr>
        <p:spPr>
          <a:xfrm>
            <a:off x="8778240" y="1554480"/>
            <a:ext cx="2926080" cy="320040"/>
          </a:xfrm>
          <a:prstGeom prst="rect">
            <a:avLst/>
          </a:prstGeom>
          <a:noFill/>
        </p:spPr>
        <p:txBody>
          <a:bodyPr wrap="square" lIns="0" tIns="0" rIns="0" bIns="0" anchor="t">
            <a:spAutoFit/>
          </a:bodyPr>
          <a:lstStyle/>
          <a:p>
            <a:pPr algn="l"/>
            <a:r>
              <a:rPr sz="1700" b="1" i="0">
                <a:solidFill>
                  <a:srgbClr val="1E242C"/>
                </a:solidFill>
                <a:latin typeface="Calibri"/>
              </a:rPr>
              <a:t>Morning</a:t>
            </a:r>
          </a:p>
        </p:txBody>
      </p:sp>
      <p:sp>
        <p:nvSpPr>
          <p:cNvPr id="10" name="TextBox 9"/>
          <p:cNvSpPr txBox="1"/>
          <p:nvPr/>
        </p:nvSpPr>
        <p:spPr>
          <a:xfrm>
            <a:off x="8778240" y="1892807"/>
            <a:ext cx="2926080" cy="548640"/>
          </a:xfrm>
          <a:prstGeom prst="rect">
            <a:avLst/>
          </a:prstGeom>
          <a:noFill/>
        </p:spPr>
        <p:txBody>
          <a:bodyPr wrap="square" lIns="0" tIns="0" rIns="0" bIns="0" anchor="t">
            <a:spAutoFit/>
          </a:bodyPr>
          <a:lstStyle/>
          <a:p>
            <a:pPr algn="l"/>
            <a:r>
              <a:rPr sz="1300" b="0" i="0">
                <a:solidFill>
                  <a:srgbClr val="5A6270"/>
                </a:solidFill>
                <a:latin typeface="Calibri"/>
              </a:rPr>
              <a:t>deliveries arrive - 20% of them late</a:t>
            </a:r>
          </a:p>
        </p:txBody>
      </p:sp>
      <p:sp>
        <p:nvSpPr>
          <p:cNvPr id="11" name="Oval 10"/>
          <p:cNvSpPr/>
          <p:nvPr/>
        </p:nvSpPr>
        <p:spPr>
          <a:xfrm>
            <a:off x="8092440" y="2587752"/>
            <a:ext cx="548640" cy="548640"/>
          </a:xfrm>
          <a:prstGeom prst="ellipse">
            <a:avLst/>
          </a:prstGeom>
          <a:solidFill>
            <a:srgbClr val="B23A4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mbria"/>
              </a:rPr>
              <a:t>2</a:t>
            </a:r>
          </a:p>
        </p:txBody>
      </p:sp>
      <p:sp>
        <p:nvSpPr>
          <p:cNvPr id="12" name="TextBox 11"/>
          <p:cNvSpPr txBox="1"/>
          <p:nvPr/>
        </p:nvSpPr>
        <p:spPr>
          <a:xfrm>
            <a:off x="8778240" y="2560320"/>
            <a:ext cx="2926080" cy="320040"/>
          </a:xfrm>
          <a:prstGeom prst="rect">
            <a:avLst/>
          </a:prstGeom>
          <a:noFill/>
        </p:spPr>
        <p:txBody>
          <a:bodyPr wrap="square" lIns="0" tIns="0" rIns="0" bIns="0" anchor="t">
            <a:spAutoFit/>
          </a:bodyPr>
          <a:lstStyle/>
          <a:p>
            <a:pPr algn="l"/>
            <a:r>
              <a:rPr sz="1700" b="1" i="0">
                <a:solidFill>
                  <a:srgbClr val="1E242C"/>
                </a:solidFill>
                <a:latin typeface="Calibri"/>
              </a:rPr>
              <a:t>Day</a:t>
            </a:r>
          </a:p>
        </p:txBody>
      </p:sp>
      <p:sp>
        <p:nvSpPr>
          <p:cNvPr id="13" name="TextBox 12"/>
          <p:cNvSpPr txBox="1"/>
          <p:nvPr/>
        </p:nvSpPr>
        <p:spPr>
          <a:xfrm>
            <a:off x="8778240" y="2898648"/>
            <a:ext cx="2926080" cy="548640"/>
          </a:xfrm>
          <a:prstGeom prst="rect">
            <a:avLst/>
          </a:prstGeom>
          <a:noFill/>
        </p:spPr>
        <p:txBody>
          <a:bodyPr wrap="square" lIns="0" tIns="0" rIns="0" bIns="0" anchor="t">
            <a:spAutoFit/>
          </a:bodyPr>
          <a:lstStyle/>
          <a:p>
            <a:pPr algn="l"/>
            <a:r>
              <a:rPr sz="1300" b="0" i="0">
                <a:solidFill>
                  <a:srgbClr val="5A6270"/>
                </a:solidFill>
                <a:latin typeface="Calibri"/>
              </a:rPr>
              <a:t>customers buy; if the shelf is empty the sale is lost</a:t>
            </a:r>
          </a:p>
        </p:txBody>
      </p:sp>
      <p:sp>
        <p:nvSpPr>
          <p:cNvPr id="14" name="Oval 13"/>
          <p:cNvSpPr/>
          <p:nvPr/>
        </p:nvSpPr>
        <p:spPr>
          <a:xfrm>
            <a:off x="8092440" y="3593592"/>
            <a:ext cx="548640" cy="548640"/>
          </a:xfrm>
          <a:prstGeom prst="ellipse">
            <a:avLst/>
          </a:prstGeom>
          <a:solidFill>
            <a:srgbClr val="D98E0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mbria"/>
              </a:rPr>
              <a:t>3</a:t>
            </a:r>
          </a:p>
        </p:txBody>
      </p:sp>
      <p:sp>
        <p:nvSpPr>
          <p:cNvPr id="15" name="TextBox 14"/>
          <p:cNvSpPr txBox="1"/>
          <p:nvPr/>
        </p:nvSpPr>
        <p:spPr>
          <a:xfrm>
            <a:off x="8778240" y="3566160"/>
            <a:ext cx="2926080" cy="320040"/>
          </a:xfrm>
          <a:prstGeom prst="rect">
            <a:avLst/>
          </a:prstGeom>
          <a:noFill/>
        </p:spPr>
        <p:txBody>
          <a:bodyPr wrap="square" lIns="0" tIns="0" rIns="0" bIns="0" anchor="t">
            <a:spAutoFit/>
          </a:bodyPr>
          <a:lstStyle/>
          <a:p>
            <a:pPr algn="l"/>
            <a:r>
              <a:rPr sz="1700" b="1" i="0">
                <a:solidFill>
                  <a:srgbClr val="1E242C"/>
                </a:solidFill>
                <a:latin typeface="Calibri"/>
              </a:rPr>
              <a:t>Evening</a:t>
            </a:r>
          </a:p>
        </p:txBody>
      </p:sp>
      <p:sp>
        <p:nvSpPr>
          <p:cNvPr id="16" name="TextBox 15"/>
          <p:cNvSpPr txBox="1"/>
          <p:nvPr/>
        </p:nvSpPr>
        <p:spPr>
          <a:xfrm>
            <a:off x="8778240" y="3904488"/>
            <a:ext cx="2926080" cy="548640"/>
          </a:xfrm>
          <a:prstGeom prst="rect">
            <a:avLst/>
          </a:prstGeom>
          <a:noFill/>
        </p:spPr>
        <p:txBody>
          <a:bodyPr wrap="square" lIns="0" tIns="0" rIns="0" bIns="0" anchor="t">
            <a:spAutoFit/>
          </a:bodyPr>
          <a:lstStyle/>
          <a:p>
            <a:pPr algn="l"/>
            <a:r>
              <a:rPr sz="1300" b="0" i="0">
                <a:solidFill>
                  <a:srgbClr val="5A6270"/>
                </a:solidFill>
                <a:latin typeface="Calibri"/>
              </a:rPr>
              <a:t>Mon &amp; Thu: order up to a target level</a:t>
            </a:r>
          </a:p>
        </p:txBody>
      </p:sp>
      <p:sp>
        <p:nvSpPr>
          <p:cNvPr id="17" name="Rounded Rectangle 16"/>
          <p:cNvSpPr/>
          <p:nvPr/>
        </p:nvSpPr>
        <p:spPr>
          <a:xfrm>
            <a:off x="548640" y="4800600"/>
            <a:ext cx="11109960" cy="1325880"/>
          </a:xfrm>
          <a:prstGeom prst="roundRect">
            <a:avLst>
              <a:gd name="adj" fmla="val 8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68680" y="4892040"/>
            <a:ext cx="2194560" cy="1097280"/>
          </a:xfrm>
          <a:prstGeom prst="rect">
            <a:avLst/>
          </a:prstGeom>
          <a:noFill/>
        </p:spPr>
        <p:txBody>
          <a:bodyPr wrap="square" lIns="0" tIns="0" rIns="0" bIns="0" anchor="ctr">
            <a:spAutoFit/>
          </a:bodyPr>
          <a:lstStyle/>
          <a:p>
            <a:pPr algn="l"/>
            <a:r>
              <a:rPr sz="4000" b="1" i="0">
                <a:solidFill>
                  <a:srgbClr val="FFFFFF"/>
                </a:solidFill>
                <a:latin typeface="Cambria"/>
              </a:rPr>
              <a:t>8.6%</a:t>
            </a:r>
          </a:p>
        </p:txBody>
      </p:sp>
      <p:sp>
        <p:nvSpPr>
          <p:cNvPr id="19" name="TextBox 18"/>
          <p:cNvSpPr txBox="1"/>
          <p:nvPr/>
        </p:nvSpPr>
        <p:spPr>
          <a:xfrm>
            <a:off x="3063240" y="4892040"/>
            <a:ext cx="8321040" cy="1097280"/>
          </a:xfrm>
          <a:prstGeom prst="rect">
            <a:avLst/>
          </a:prstGeom>
          <a:noFill/>
        </p:spPr>
        <p:txBody>
          <a:bodyPr wrap="square" lIns="0" tIns="0" rIns="0" bIns="0" anchor="ctr">
            <a:spAutoFit/>
          </a:bodyPr>
          <a:lstStyle/>
          <a:p>
            <a:pPr algn="l"/>
            <a:r>
              <a:rPr sz="1500" b="1" i="0">
                <a:solidFill>
                  <a:srgbClr val="FFFFFF"/>
                </a:solidFill>
                <a:latin typeface="Calibri"/>
              </a:rPr>
              <a:t>stockout days under the manager's rule (last 4 weeks' average + 20%). </a:t>
            </a:r>
            <a:r>
              <a:rPr sz="1500" b="0" i="0">
                <a:solidFill>
                  <a:srgbClr val="FFFFFF"/>
                </a:solidFill>
                <a:latin typeface="Calibri"/>
              </a:rPr>
              <a:t>We calibrated the buffer so the replay matches the 8.3% out-of-stock rate measured in real stores. Promotion days: 14% stockouts, other days 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47472"/>
            <a:ext cx="8686800" cy="274320"/>
          </a:xfrm>
          <a:prstGeom prst="rect">
            <a:avLst/>
          </a:prstGeom>
          <a:noFill/>
        </p:spPr>
        <p:txBody>
          <a:bodyPr wrap="square" lIns="0" tIns="0" rIns="0" bIns="0" anchor="t">
            <a:spAutoFit/>
          </a:bodyPr>
          <a:lstStyle/>
          <a:p>
            <a:pPr algn="l"/>
            <a:r>
              <a:rPr sz="1100" b="1" i="0">
                <a:solidFill>
                  <a:srgbClr val="2E8B8B"/>
                </a:solidFill>
                <a:latin typeface="Calibri"/>
              </a:rPr>
              <a:t>STOCKOUT RISK (CLASSIFICATION)</a:t>
            </a:r>
          </a:p>
        </p:txBody>
      </p:sp>
      <p:sp>
        <p:nvSpPr>
          <p:cNvPr id="3" name="Title"/>
          <p:cNvSpPr txBox="1"/>
          <p:nvPr/>
        </p:nvSpPr>
        <p:spPr>
          <a:xfrm>
            <a:off x="548640" y="603504"/>
            <a:ext cx="11064240" cy="731520"/>
          </a:xfrm>
          <a:prstGeom prst="rect">
            <a:avLst/>
          </a:prstGeom>
          <a:noFill/>
        </p:spPr>
        <p:txBody>
          <a:bodyPr wrap="square" lIns="0" tIns="0" rIns="0" bIns="0" anchor="t">
            <a:spAutoFit/>
          </a:bodyPr>
          <a:lstStyle/>
          <a:p>
            <a:pPr algn="l"/>
            <a:r>
              <a:rPr sz="3000" b="1" i="0">
                <a:solidFill>
                  <a:srgbClr val="1F3A5F"/>
                </a:solidFill>
                <a:latin typeface="Cambria"/>
              </a:rPr>
              <a:t>Spotting a stockout three days before it happens</a:t>
            </a:r>
          </a:p>
        </p:txBody>
      </p:sp>
      <p:pic>
        <p:nvPicPr>
          <p:cNvPr id="4" name="Picture 3" descr="nmims_logo.png"/>
          <p:cNvPicPr>
            <a:picLocks noChangeAspect="1"/>
          </p:cNvPicPr>
          <p:nvPr/>
        </p:nvPicPr>
        <p:blipFill>
          <a:blip r:embed="rId3"/>
          <a:stretch>
            <a:fillRect/>
          </a:stretch>
        </p:blipFill>
        <p:spPr>
          <a:xfrm>
            <a:off x="11109960" y="274320"/>
            <a:ext cx="570527" cy="566928"/>
          </a:xfrm>
          <a:prstGeom prst="rect">
            <a:avLst/>
          </a:prstGeom>
        </p:spPr>
      </p:pic>
      <p:sp>
        <p:nvSpPr>
          <p:cNvPr id="5" name="TextBox 4"/>
          <p:cNvSpPr txBox="1"/>
          <p:nvPr/>
        </p:nvSpPr>
        <p:spPr>
          <a:xfrm>
            <a:off x="548640" y="6446520"/>
            <a:ext cx="5486400" cy="228600"/>
          </a:xfrm>
          <a:prstGeom prst="rect">
            <a:avLst/>
          </a:prstGeom>
          <a:noFill/>
        </p:spPr>
        <p:txBody>
          <a:bodyPr wrap="square" lIns="0" tIns="0" rIns="0" bIns="0" anchor="t">
            <a:spAutoFit/>
          </a:bodyPr>
          <a:lstStyle/>
          <a:p>
            <a:pPr algn="l"/>
            <a:r>
              <a:rPr sz="900" b="0" i="0">
                <a:solidFill>
                  <a:srgbClr val="8A8F98"/>
                </a:solidFill>
                <a:latin typeface="Calibri"/>
              </a:rPr>
              <a:t>DemandIQ  |  NMIMS MPSTME  |  Machine Learning, Sem V</a:t>
            </a:r>
          </a:p>
        </p:txBody>
      </p:sp>
      <p:sp>
        <p:nvSpPr>
          <p:cNvPr id="6" name="TextBox 5"/>
          <p:cNvSpPr txBox="1"/>
          <p:nvPr/>
        </p:nvSpPr>
        <p:spPr>
          <a:xfrm>
            <a:off x="11155680" y="6446520"/>
            <a:ext cx="502920" cy="228600"/>
          </a:xfrm>
          <a:prstGeom prst="rect">
            <a:avLst/>
          </a:prstGeom>
          <a:noFill/>
        </p:spPr>
        <p:txBody>
          <a:bodyPr wrap="square" lIns="0" tIns="0" rIns="0" bIns="0" anchor="t">
            <a:spAutoFit/>
          </a:bodyPr>
          <a:lstStyle/>
          <a:p>
            <a:pPr algn="r"/>
            <a:r>
              <a:rPr sz="900" b="0" i="0">
                <a:solidFill>
                  <a:srgbClr val="8A8F98"/>
                </a:solidFill>
                <a:latin typeface="Calibri"/>
              </a:rPr>
              <a:t>13</a:t>
            </a:r>
          </a:p>
        </p:txBody>
      </p:sp>
      <p:pic>
        <p:nvPicPr>
          <p:cNvPr id="7" name="Picture 6" descr="fig13_roc_pr_curves.png"/>
          <p:cNvPicPr>
            <a:picLocks noChangeAspect="1"/>
          </p:cNvPicPr>
          <p:nvPr/>
        </p:nvPicPr>
        <p:blipFill>
          <a:blip r:embed="rId4"/>
          <a:stretch>
            <a:fillRect/>
          </a:stretch>
        </p:blipFill>
        <p:spPr>
          <a:xfrm>
            <a:off x="548640" y="1594826"/>
            <a:ext cx="6949440" cy="2616787"/>
          </a:xfrm>
          <a:prstGeom prst="rect">
            <a:avLst/>
          </a:prstGeom>
        </p:spPr>
      </p:pic>
      <p:pic>
        <p:nvPicPr>
          <p:cNvPr id="8" name="Picture 7" descr="fig15_risk_bands.png"/>
          <p:cNvPicPr>
            <a:picLocks noChangeAspect="1"/>
          </p:cNvPicPr>
          <p:nvPr/>
        </p:nvPicPr>
        <p:blipFill>
          <a:blip r:embed="rId5"/>
          <a:stretch>
            <a:fillRect/>
          </a:stretch>
        </p:blipFill>
        <p:spPr>
          <a:xfrm>
            <a:off x="1020107" y="4434840"/>
            <a:ext cx="3903384" cy="1920240"/>
          </a:xfrm>
          <a:prstGeom prst="rect">
            <a:avLst/>
          </a:prstGeom>
        </p:spPr>
      </p:pic>
      <p:sp>
        <p:nvSpPr>
          <p:cNvPr id="9" name="Rounded Rectangle 8"/>
          <p:cNvSpPr/>
          <p:nvPr/>
        </p:nvSpPr>
        <p:spPr>
          <a:xfrm>
            <a:off x="7863840" y="1508760"/>
            <a:ext cx="3794760" cy="137160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138160" y="1618488"/>
            <a:ext cx="3291840" cy="640080"/>
          </a:xfrm>
          <a:prstGeom prst="rect">
            <a:avLst/>
          </a:prstGeom>
          <a:noFill/>
        </p:spPr>
        <p:txBody>
          <a:bodyPr wrap="square" lIns="0" tIns="0" rIns="0" bIns="0" anchor="t">
            <a:spAutoFit/>
          </a:bodyPr>
          <a:lstStyle/>
          <a:p>
            <a:pPr algn="l"/>
            <a:r>
              <a:rPr sz="3200" b="1" i="0">
                <a:solidFill>
                  <a:srgbClr val="1F3A5F"/>
                </a:solidFill>
                <a:latin typeface="Cambria"/>
              </a:rPr>
              <a:t>0.873</a:t>
            </a:r>
          </a:p>
        </p:txBody>
      </p:sp>
      <p:sp>
        <p:nvSpPr>
          <p:cNvPr id="11" name="TextBox 10"/>
          <p:cNvSpPr txBox="1"/>
          <p:nvPr/>
        </p:nvSpPr>
        <p:spPr>
          <a:xfrm>
            <a:off x="8138160" y="2240280"/>
            <a:ext cx="3337560" cy="548640"/>
          </a:xfrm>
          <a:prstGeom prst="rect">
            <a:avLst/>
          </a:prstGeom>
          <a:noFill/>
        </p:spPr>
        <p:txBody>
          <a:bodyPr wrap="square" lIns="0" tIns="0" rIns="0" bIns="0" anchor="t">
            <a:spAutoFit/>
          </a:bodyPr>
          <a:lstStyle/>
          <a:p>
            <a:pPr algn="l"/>
            <a:r>
              <a:rPr sz="1400" b="0" i="0">
                <a:solidFill>
                  <a:srgbClr val="5A6270"/>
                </a:solidFill>
                <a:latin typeface="Calibri"/>
              </a:rPr>
              <a:t>ROC-AUC (rule of thumb: 0.56)</a:t>
            </a:r>
          </a:p>
        </p:txBody>
      </p:sp>
      <p:sp>
        <p:nvSpPr>
          <p:cNvPr id="12" name="Rounded Rectangle 11"/>
          <p:cNvSpPr/>
          <p:nvPr/>
        </p:nvSpPr>
        <p:spPr>
          <a:xfrm>
            <a:off x="7863840" y="3063239"/>
            <a:ext cx="3794760" cy="137160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138160" y="3172968"/>
            <a:ext cx="3291840" cy="640080"/>
          </a:xfrm>
          <a:prstGeom prst="rect">
            <a:avLst/>
          </a:prstGeom>
          <a:noFill/>
        </p:spPr>
        <p:txBody>
          <a:bodyPr wrap="square" lIns="0" tIns="0" rIns="0" bIns="0" anchor="t">
            <a:spAutoFit/>
          </a:bodyPr>
          <a:lstStyle/>
          <a:p>
            <a:pPr algn="l"/>
            <a:r>
              <a:rPr sz="3200" b="1" i="0">
                <a:solidFill>
                  <a:srgbClr val="2E8B8B"/>
                </a:solidFill>
                <a:latin typeface="Cambria"/>
              </a:rPr>
              <a:t>0.61</a:t>
            </a:r>
          </a:p>
        </p:txBody>
      </p:sp>
      <p:sp>
        <p:nvSpPr>
          <p:cNvPr id="14" name="TextBox 13"/>
          <p:cNvSpPr txBox="1"/>
          <p:nvPr/>
        </p:nvSpPr>
        <p:spPr>
          <a:xfrm>
            <a:off x="8138160" y="3794759"/>
            <a:ext cx="3337560" cy="548640"/>
          </a:xfrm>
          <a:prstGeom prst="rect">
            <a:avLst/>
          </a:prstGeom>
          <a:noFill/>
        </p:spPr>
        <p:txBody>
          <a:bodyPr wrap="square" lIns="0" tIns="0" rIns="0" bIns="0" anchor="t">
            <a:spAutoFit/>
          </a:bodyPr>
          <a:lstStyle/>
          <a:p>
            <a:pPr algn="l"/>
            <a:r>
              <a:rPr sz="1400" b="0" i="0">
                <a:solidFill>
                  <a:srgbClr val="5A6270"/>
                </a:solidFill>
                <a:latin typeface="Calibri"/>
              </a:rPr>
              <a:t>PR-AUC - over 3x the 16% base rate</a:t>
            </a:r>
          </a:p>
        </p:txBody>
      </p:sp>
      <p:sp>
        <p:nvSpPr>
          <p:cNvPr id="15" name="Rounded Rectangle 14"/>
          <p:cNvSpPr/>
          <p:nvPr/>
        </p:nvSpPr>
        <p:spPr>
          <a:xfrm>
            <a:off x="7863840" y="4617720"/>
            <a:ext cx="3794760" cy="137160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138160" y="4727448"/>
            <a:ext cx="3291840" cy="640080"/>
          </a:xfrm>
          <a:prstGeom prst="rect">
            <a:avLst/>
          </a:prstGeom>
          <a:noFill/>
        </p:spPr>
        <p:txBody>
          <a:bodyPr wrap="square" lIns="0" tIns="0" rIns="0" bIns="0" anchor="t">
            <a:spAutoFit/>
          </a:bodyPr>
          <a:lstStyle/>
          <a:p>
            <a:pPr algn="l"/>
            <a:r>
              <a:rPr sz="3200" b="1" i="0">
                <a:solidFill>
                  <a:srgbClr val="B23A48"/>
                </a:solidFill>
                <a:latin typeface="Cambria"/>
              </a:rPr>
              <a:t>60%</a:t>
            </a:r>
          </a:p>
        </p:txBody>
      </p:sp>
      <p:sp>
        <p:nvSpPr>
          <p:cNvPr id="17" name="TextBox 16"/>
          <p:cNvSpPr txBox="1"/>
          <p:nvPr/>
        </p:nvSpPr>
        <p:spPr>
          <a:xfrm>
            <a:off x="8138160" y="5349240"/>
            <a:ext cx="3337560" cy="548640"/>
          </a:xfrm>
          <a:prstGeom prst="rect">
            <a:avLst/>
          </a:prstGeom>
          <a:noFill/>
        </p:spPr>
        <p:txBody>
          <a:bodyPr wrap="square" lIns="0" tIns="0" rIns="0" bIns="0" anchor="t">
            <a:spAutoFit/>
          </a:bodyPr>
          <a:lstStyle/>
          <a:p>
            <a:pPr algn="l"/>
            <a:r>
              <a:rPr sz="1400" b="0" i="0">
                <a:solidFill>
                  <a:srgbClr val="5A6270"/>
                </a:solidFill>
                <a:latin typeface="Calibri"/>
              </a:rPr>
              <a:t>of stockouts caught at the tuned threshold</a:t>
            </a:r>
          </a:p>
        </p:txBody>
      </p:sp>
      <p:sp>
        <p:nvSpPr>
          <p:cNvPr id="18" name="TextBox 17"/>
          <p:cNvSpPr txBox="1"/>
          <p:nvPr/>
        </p:nvSpPr>
        <p:spPr>
          <a:xfrm>
            <a:off x="5440680" y="4709160"/>
            <a:ext cx="2194560" cy="1463040"/>
          </a:xfrm>
          <a:prstGeom prst="rect">
            <a:avLst/>
          </a:prstGeom>
          <a:noFill/>
        </p:spPr>
        <p:txBody>
          <a:bodyPr wrap="square" lIns="0" tIns="0" rIns="0" bIns="0" anchor="t">
            <a:spAutoFit/>
          </a:bodyPr>
          <a:lstStyle/>
          <a:p>
            <a:pPr algn="l"/>
            <a:r>
              <a:rPr sz="1300" b="1" i="0">
                <a:solidFill>
                  <a:srgbClr val="B23A48"/>
                </a:solidFill>
                <a:latin typeface="Calibri"/>
              </a:rPr>
              <a:t>HIGH</a:t>
            </a:r>
            <a:r>
              <a:rPr sz="1300" b="0" i="0">
                <a:solidFill>
                  <a:srgbClr val="1E242C"/>
                </a:solidFill>
                <a:latin typeface="Calibri"/>
              </a:rPr>
              <a:t> stores really ran out 60% of the time; </a:t>
            </a:r>
            <a:r>
              <a:rPr sz="1300" b="1" i="0">
                <a:solidFill>
                  <a:srgbClr val="4C8C4A"/>
                </a:solidFill>
                <a:latin typeface="Calibri"/>
              </a:rPr>
              <a:t>LOW</a:t>
            </a:r>
            <a:r>
              <a:rPr sz="1300" b="0" i="0">
                <a:solidFill>
                  <a:srgbClr val="1E242C"/>
                </a:solidFill>
                <a:latin typeface="Calibri"/>
              </a:rPr>
              <a:t> only 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47472"/>
            <a:ext cx="8686800" cy="274320"/>
          </a:xfrm>
          <a:prstGeom prst="rect">
            <a:avLst/>
          </a:prstGeom>
          <a:noFill/>
        </p:spPr>
        <p:txBody>
          <a:bodyPr wrap="square" lIns="0" tIns="0" rIns="0" bIns="0" anchor="t">
            <a:spAutoFit/>
          </a:bodyPr>
          <a:lstStyle/>
          <a:p>
            <a:pPr algn="l"/>
            <a:r>
              <a:rPr sz="1100" b="1" i="0">
                <a:solidFill>
                  <a:srgbClr val="2E8B8B"/>
                </a:solidFill>
                <a:latin typeface="Calibri"/>
              </a:rPr>
              <a:t>FROM PREDICTION TO DECISION</a:t>
            </a:r>
          </a:p>
        </p:txBody>
      </p:sp>
      <p:sp>
        <p:nvSpPr>
          <p:cNvPr id="3" name="Title"/>
          <p:cNvSpPr txBox="1"/>
          <p:nvPr/>
        </p:nvSpPr>
        <p:spPr>
          <a:xfrm>
            <a:off x="548640" y="603504"/>
            <a:ext cx="11064240" cy="731520"/>
          </a:xfrm>
          <a:prstGeom prst="rect">
            <a:avLst/>
          </a:prstGeom>
          <a:noFill/>
        </p:spPr>
        <p:txBody>
          <a:bodyPr wrap="square" lIns="0" tIns="0" rIns="0" bIns="0" anchor="t">
            <a:spAutoFit/>
          </a:bodyPr>
          <a:lstStyle/>
          <a:p>
            <a:pPr algn="l"/>
            <a:r>
              <a:rPr sz="3000" b="1" i="0">
                <a:solidFill>
                  <a:srgbClr val="1F3A5F"/>
                </a:solidFill>
                <a:latin typeface="Cambria"/>
              </a:rPr>
              <a:t>80% fewer stockout days, 63% lower cost</a:t>
            </a:r>
          </a:p>
        </p:txBody>
      </p:sp>
      <p:pic>
        <p:nvPicPr>
          <p:cNvPr id="4" name="Picture 3" descr="nmims_logo.png"/>
          <p:cNvPicPr>
            <a:picLocks noChangeAspect="1"/>
          </p:cNvPicPr>
          <p:nvPr/>
        </p:nvPicPr>
        <p:blipFill>
          <a:blip r:embed="rId3"/>
          <a:stretch>
            <a:fillRect/>
          </a:stretch>
        </p:blipFill>
        <p:spPr>
          <a:xfrm>
            <a:off x="11109960" y="274320"/>
            <a:ext cx="570527" cy="566928"/>
          </a:xfrm>
          <a:prstGeom prst="rect">
            <a:avLst/>
          </a:prstGeom>
        </p:spPr>
      </p:pic>
      <p:sp>
        <p:nvSpPr>
          <p:cNvPr id="5" name="TextBox 4"/>
          <p:cNvSpPr txBox="1"/>
          <p:nvPr/>
        </p:nvSpPr>
        <p:spPr>
          <a:xfrm>
            <a:off x="548640" y="6446520"/>
            <a:ext cx="5486400" cy="228600"/>
          </a:xfrm>
          <a:prstGeom prst="rect">
            <a:avLst/>
          </a:prstGeom>
          <a:noFill/>
        </p:spPr>
        <p:txBody>
          <a:bodyPr wrap="square" lIns="0" tIns="0" rIns="0" bIns="0" anchor="t">
            <a:spAutoFit/>
          </a:bodyPr>
          <a:lstStyle/>
          <a:p>
            <a:pPr algn="l"/>
            <a:r>
              <a:rPr sz="900" b="0" i="0">
                <a:solidFill>
                  <a:srgbClr val="8A8F98"/>
                </a:solidFill>
                <a:latin typeface="Calibri"/>
              </a:rPr>
              <a:t>DemandIQ  |  NMIMS MPSTME  |  Machine Learning, Sem V</a:t>
            </a:r>
          </a:p>
        </p:txBody>
      </p:sp>
      <p:sp>
        <p:nvSpPr>
          <p:cNvPr id="6" name="TextBox 5"/>
          <p:cNvSpPr txBox="1"/>
          <p:nvPr/>
        </p:nvSpPr>
        <p:spPr>
          <a:xfrm>
            <a:off x="11155680" y="6446520"/>
            <a:ext cx="502920" cy="228600"/>
          </a:xfrm>
          <a:prstGeom prst="rect">
            <a:avLst/>
          </a:prstGeom>
          <a:noFill/>
        </p:spPr>
        <p:txBody>
          <a:bodyPr wrap="square" lIns="0" tIns="0" rIns="0" bIns="0" anchor="t">
            <a:spAutoFit/>
          </a:bodyPr>
          <a:lstStyle/>
          <a:p>
            <a:pPr algn="r"/>
            <a:r>
              <a:rPr sz="900" b="0" i="0">
                <a:solidFill>
                  <a:srgbClr val="8A8F98"/>
                </a:solidFill>
                <a:latin typeface="Calibri"/>
              </a:rPr>
              <a:t>14</a:t>
            </a:r>
          </a:p>
        </p:txBody>
      </p:sp>
      <p:graphicFrame>
        <p:nvGraphicFramePr>
          <p:cNvPr id="7" name="Chart 6"/>
          <p:cNvGraphicFramePr>
            <a:graphicFrameLocks noGrp="1"/>
          </p:cNvGraphicFramePr>
          <p:nvPr/>
        </p:nvGraphicFramePr>
        <p:xfrm>
          <a:off x="548640" y="1463040"/>
          <a:ext cx="5394960" cy="3657600"/>
        </p:xfrm>
        <a:graphic>
          <a:graphicData uri="http://schemas.openxmlformats.org/drawingml/2006/chart">
            <c:chart xmlns:c="http://schemas.openxmlformats.org/drawingml/2006/chart" xmlns:r="http://schemas.openxmlformats.org/officeDocument/2006/relationships" r:id="rId4"/>
          </a:graphicData>
        </a:graphic>
      </p:graphicFrame>
      <p:pic>
        <p:nvPicPr>
          <p:cNvPr id="8" name="Picture 7" descr="fig17_cost_breakdown.png"/>
          <p:cNvPicPr>
            <a:picLocks noChangeAspect="1"/>
          </p:cNvPicPr>
          <p:nvPr/>
        </p:nvPicPr>
        <p:blipFill>
          <a:blip r:embed="rId5"/>
          <a:stretch>
            <a:fillRect/>
          </a:stretch>
        </p:blipFill>
        <p:spPr>
          <a:xfrm>
            <a:off x="6172200" y="1590972"/>
            <a:ext cx="5486400" cy="2487335"/>
          </a:xfrm>
          <a:prstGeom prst="rect">
            <a:avLst/>
          </a:prstGeom>
        </p:spPr>
      </p:pic>
      <p:graphicFrame>
        <p:nvGraphicFramePr>
          <p:cNvPr id="9" name="Table 8"/>
          <p:cNvGraphicFramePr>
            <a:graphicFrameLocks noGrp="1"/>
          </p:cNvGraphicFramePr>
          <p:nvPr/>
        </p:nvGraphicFramePr>
        <p:xfrm>
          <a:off x="6309360" y="4343400"/>
          <a:ext cx="5349240" cy="1463040"/>
        </p:xfrm>
        <a:graphic>
          <a:graphicData uri="http://schemas.openxmlformats.org/drawingml/2006/table">
            <a:tbl>
              <a:tblPr firstRow="1" bandRow="1">
                <a:tableStyleId>{5C22544A-7EE6-4342-B048-85BDC9FD1C3A}</a:tableStyleId>
              </a:tblPr>
              <a:tblGrid>
                <a:gridCol w="1337310">
                  <a:extLst>
                    <a:ext uri="{9D8B030D-6E8A-4147-A177-3AD203B41FA5}">
                      <a16:colId xmlns:a16="http://schemas.microsoft.com/office/drawing/2014/main" val="20000"/>
                    </a:ext>
                  </a:extLst>
                </a:gridCol>
                <a:gridCol w="1337310">
                  <a:extLst>
                    <a:ext uri="{9D8B030D-6E8A-4147-A177-3AD203B41FA5}">
                      <a16:colId xmlns:a16="http://schemas.microsoft.com/office/drawing/2014/main" val="20001"/>
                    </a:ext>
                  </a:extLst>
                </a:gridCol>
                <a:gridCol w="1337310">
                  <a:extLst>
                    <a:ext uri="{9D8B030D-6E8A-4147-A177-3AD203B41FA5}">
                      <a16:colId xmlns:a16="http://schemas.microsoft.com/office/drawing/2014/main" val="20002"/>
                    </a:ext>
                  </a:extLst>
                </a:gridCol>
                <a:gridCol w="1337310">
                  <a:extLst>
                    <a:ext uri="{9D8B030D-6E8A-4147-A177-3AD203B41FA5}">
                      <a16:colId xmlns:a16="http://schemas.microsoft.com/office/drawing/2014/main" val="20003"/>
                    </a:ext>
                  </a:extLst>
                </a:gridCol>
              </a:tblGrid>
              <a:tr h="365760">
                <a:tc>
                  <a:txBody>
                    <a:bodyPr/>
                    <a:lstStyle/>
                    <a:p>
                      <a:pPr algn="ctr"/>
                      <a:r>
                        <a:rPr sz="1300" b="1">
                          <a:solidFill>
                            <a:srgbClr val="FFFFFF"/>
                          </a:solidFill>
                          <a:latin typeface="Calibri"/>
                        </a:rPr>
                        <a:t>Policy</a:t>
                      </a:r>
                    </a:p>
                  </a:txBody>
                  <a:tcPr>
                    <a:solidFill>
                      <a:srgbClr val="1F3A5F"/>
                    </a:solidFill>
                  </a:tcPr>
                </a:tc>
                <a:tc>
                  <a:txBody>
                    <a:bodyPr/>
                    <a:lstStyle/>
                    <a:p>
                      <a:pPr algn="ctr"/>
                      <a:r>
                        <a:rPr sz="1300" b="1">
                          <a:solidFill>
                            <a:srgbClr val="FFFFFF"/>
                          </a:solidFill>
                          <a:latin typeface="Calibri"/>
                        </a:rPr>
                        <a:t>Fill rate</a:t>
                      </a:r>
                    </a:p>
                  </a:txBody>
                  <a:tcPr>
                    <a:solidFill>
                      <a:srgbClr val="1F3A5F"/>
                    </a:solidFill>
                  </a:tcPr>
                </a:tc>
                <a:tc>
                  <a:txBody>
                    <a:bodyPr/>
                    <a:lstStyle/>
                    <a:p>
                      <a:pPr algn="ctr"/>
                      <a:r>
                        <a:rPr sz="1300" b="1">
                          <a:solidFill>
                            <a:srgbClr val="FFFFFF"/>
                          </a:solidFill>
                          <a:latin typeface="Calibri"/>
                        </a:rPr>
                        <a:t>Stock (days)</a:t>
                      </a:r>
                    </a:p>
                  </a:txBody>
                  <a:tcPr>
                    <a:solidFill>
                      <a:srgbClr val="1F3A5F"/>
                    </a:solidFill>
                  </a:tcPr>
                </a:tc>
                <a:tc>
                  <a:txBody>
                    <a:bodyPr/>
                    <a:lstStyle/>
                    <a:p>
                      <a:pPr algn="ctr"/>
                      <a:r>
                        <a:rPr sz="1300" b="1">
                          <a:solidFill>
                            <a:srgbClr val="FFFFFF"/>
                          </a:solidFill>
                          <a:latin typeface="Calibri"/>
                        </a:rPr>
                        <a:t>Cost vs A</a:t>
                      </a:r>
                    </a:p>
                  </a:txBody>
                  <a:tcPr>
                    <a:solidFill>
                      <a:srgbClr val="1F3A5F"/>
                    </a:solidFill>
                  </a:tcPr>
                </a:tc>
                <a:extLst>
                  <a:ext uri="{0D108BD9-81ED-4DB2-BD59-A6C34878D82A}">
                    <a16:rowId xmlns:a16="http://schemas.microsoft.com/office/drawing/2014/main" val="10000"/>
                  </a:ext>
                </a:extLst>
              </a:tr>
              <a:tr h="365760">
                <a:tc>
                  <a:txBody>
                    <a:bodyPr/>
                    <a:lstStyle/>
                    <a:p>
                      <a:pPr algn="ctr"/>
                      <a:r>
                        <a:rPr sz="1300" b="0">
                          <a:solidFill>
                            <a:srgbClr val="1E242C"/>
                          </a:solidFill>
                          <a:latin typeface="Calibri"/>
                        </a:rPr>
                        <a:t>A</a:t>
                      </a:r>
                    </a:p>
                  </a:txBody>
                  <a:tcPr>
                    <a:solidFill>
                      <a:srgbClr val="FFFFFF"/>
                    </a:solidFill>
                  </a:tcPr>
                </a:tc>
                <a:tc>
                  <a:txBody>
                    <a:bodyPr/>
                    <a:lstStyle/>
                    <a:p>
                      <a:pPr algn="ctr"/>
                      <a:r>
                        <a:rPr sz="1300" b="0">
                          <a:solidFill>
                            <a:srgbClr val="1E242C"/>
                          </a:solidFill>
                          <a:latin typeface="Calibri"/>
                        </a:rPr>
                        <a:t>96.57%</a:t>
                      </a:r>
                    </a:p>
                  </a:txBody>
                  <a:tcPr>
                    <a:solidFill>
                      <a:srgbClr val="FFFFFF"/>
                    </a:solidFill>
                  </a:tcPr>
                </a:tc>
                <a:tc>
                  <a:txBody>
                    <a:bodyPr/>
                    <a:lstStyle/>
                    <a:p>
                      <a:pPr algn="ctr"/>
                      <a:r>
                        <a:rPr sz="1300" b="0">
                          <a:solidFill>
                            <a:srgbClr val="1E242C"/>
                          </a:solidFill>
                          <a:latin typeface="Calibri"/>
                        </a:rPr>
                        <a:t>1.93</a:t>
                      </a:r>
                    </a:p>
                  </a:txBody>
                  <a:tcPr>
                    <a:solidFill>
                      <a:srgbClr val="FFFFFF"/>
                    </a:solidFill>
                  </a:tcPr>
                </a:tc>
                <a:tc>
                  <a:txBody>
                    <a:bodyPr/>
                    <a:lstStyle/>
                    <a:p>
                      <a:pPr algn="ctr"/>
                      <a:r>
                        <a:rPr sz="1300" b="0">
                          <a:solidFill>
                            <a:srgbClr val="1E242C"/>
                          </a:solidFill>
                          <a:latin typeface="Calibri"/>
                        </a:rPr>
                        <a:t>+0%</a:t>
                      </a:r>
                    </a:p>
                  </a:txBody>
                  <a:tcPr>
                    <a:solidFill>
                      <a:srgbClr val="FFFFFF"/>
                    </a:solidFill>
                  </a:tcPr>
                </a:tc>
                <a:extLst>
                  <a:ext uri="{0D108BD9-81ED-4DB2-BD59-A6C34878D82A}">
                    <a16:rowId xmlns:a16="http://schemas.microsoft.com/office/drawing/2014/main" val="10001"/>
                  </a:ext>
                </a:extLst>
              </a:tr>
              <a:tr h="365760">
                <a:tc>
                  <a:txBody>
                    <a:bodyPr/>
                    <a:lstStyle/>
                    <a:p>
                      <a:pPr algn="ctr"/>
                      <a:r>
                        <a:rPr sz="1300" b="0">
                          <a:solidFill>
                            <a:srgbClr val="1E242C"/>
                          </a:solidFill>
                          <a:latin typeface="Calibri"/>
                        </a:rPr>
                        <a:t>B</a:t>
                      </a:r>
                    </a:p>
                  </a:txBody>
                  <a:tcPr>
                    <a:solidFill>
                      <a:srgbClr val="EEF2F6"/>
                    </a:solidFill>
                  </a:tcPr>
                </a:tc>
                <a:tc>
                  <a:txBody>
                    <a:bodyPr/>
                    <a:lstStyle/>
                    <a:p>
                      <a:pPr algn="ctr"/>
                      <a:r>
                        <a:rPr sz="1300" b="0">
                          <a:solidFill>
                            <a:srgbClr val="1E242C"/>
                          </a:solidFill>
                          <a:latin typeface="Calibri"/>
                        </a:rPr>
                        <a:t>98.82%</a:t>
                      </a:r>
                    </a:p>
                  </a:txBody>
                  <a:tcPr>
                    <a:solidFill>
                      <a:srgbClr val="EEF2F6"/>
                    </a:solidFill>
                  </a:tcPr>
                </a:tc>
                <a:tc>
                  <a:txBody>
                    <a:bodyPr/>
                    <a:lstStyle/>
                    <a:p>
                      <a:pPr algn="ctr"/>
                      <a:r>
                        <a:rPr sz="1300" b="0">
                          <a:solidFill>
                            <a:srgbClr val="1E242C"/>
                          </a:solidFill>
                          <a:latin typeface="Calibri"/>
                        </a:rPr>
                        <a:t>2.15</a:t>
                      </a:r>
                    </a:p>
                  </a:txBody>
                  <a:tcPr>
                    <a:solidFill>
                      <a:srgbClr val="EEF2F6"/>
                    </a:solidFill>
                  </a:tcPr>
                </a:tc>
                <a:tc>
                  <a:txBody>
                    <a:bodyPr/>
                    <a:lstStyle/>
                    <a:p>
                      <a:pPr algn="ctr"/>
                      <a:r>
                        <a:rPr sz="1300" b="0">
                          <a:solidFill>
                            <a:srgbClr val="1E242C"/>
                          </a:solidFill>
                          <a:latin typeface="Calibri"/>
                        </a:rPr>
                        <a:t>-51%</a:t>
                      </a:r>
                    </a:p>
                  </a:txBody>
                  <a:tcPr>
                    <a:solidFill>
                      <a:srgbClr val="EEF2F6"/>
                    </a:solidFill>
                  </a:tcPr>
                </a:tc>
                <a:extLst>
                  <a:ext uri="{0D108BD9-81ED-4DB2-BD59-A6C34878D82A}">
                    <a16:rowId xmlns:a16="http://schemas.microsoft.com/office/drawing/2014/main" val="10002"/>
                  </a:ext>
                </a:extLst>
              </a:tr>
              <a:tr h="365760">
                <a:tc>
                  <a:txBody>
                    <a:bodyPr/>
                    <a:lstStyle/>
                    <a:p>
                      <a:pPr algn="ctr"/>
                      <a:r>
                        <a:rPr sz="1300" b="1">
                          <a:solidFill>
                            <a:srgbClr val="1E242C"/>
                          </a:solidFill>
                          <a:latin typeface="Calibri"/>
                        </a:rPr>
                        <a:t>C</a:t>
                      </a:r>
                    </a:p>
                  </a:txBody>
                  <a:tcPr>
                    <a:solidFill>
                      <a:srgbClr val="FFFFFF"/>
                    </a:solidFill>
                  </a:tcPr>
                </a:tc>
                <a:tc>
                  <a:txBody>
                    <a:bodyPr/>
                    <a:lstStyle/>
                    <a:p>
                      <a:pPr algn="ctr"/>
                      <a:r>
                        <a:rPr sz="1300" b="1">
                          <a:solidFill>
                            <a:srgbClr val="1E242C"/>
                          </a:solidFill>
                          <a:latin typeface="Calibri"/>
                        </a:rPr>
                        <a:t>99.58%</a:t>
                      </a:r>
                    </a:p>
                  </a:txBody>
                  <a:tcPr>
                    <a:solidFill>
                      <a:srgbClr val="FFFFFF"/>
                    </a:solidFill>
                  </a:tcPr>
                </a:tc>
                <a:tc>
                  <a:txBody>
                    <a:bodyPr/>
                    <a:lstStyle/>
                    <a:p>
                      <a:pPr algn="ctr"/>
                      <a:r>
                        <a:rPr sz="1300" b="1">
                          <a:solidFill>
                            <a:srgbClr val="1E242C"/>
                          </a:solidFill>
                          <a:latin typeface="Calibri"/>
                        </a:rPr>
                        <a:t>2.32</a:t>
                      </a:r>
                    </a:p>
                  </a:txBody>
                  <a:tcPr>
                    <a:solidFill>
                      <a:srgbClr val="FFFFFF"/>
                    </a:solidFill>
                  </a:tcPr>
                </a:tc>
                <a:tc>
                  <a:txBody>
                    <a:bodyPr/>
                    <a:lstStyle/>
                    <a:p>
                      <a:pPr algn="ctr"/>
                      <a:r>
                        <a:rPr sz="1300" b="1">
                          <a:solidFill>
                            <a:srgbClr val="1E242C"/>
                          </a:solidFill>
                          <a:latin typeface="Calibri"/>
                        </a:rPr>
                        <a:t>-63%</a:t>
                      </a:r>
                    </a:p>
                  </a:txBody>
                  <a:tcPr>
                    <a:solidFill>
                      <a:srgbClr val="FFFFFF"/>
                    </a:solidFill>
                  </a:tcPr>
                </a:tc>
                <a:extLst>
                  <a:ext uri="{0D108BD9-81ED-4DB2-BD59-A6C34878D82A}">
                    <a16:rowId xmlns:a16="http://schemas.microsoft.com/office/drawing/2014/main" val="10003"/>
                  </a:ext>
                </a:extLst>
              </a:tr>
            </a:tbl>
          </a:graphicData>
        </a:graphic>
      </p:graphicFrame>
      <p:sp>
        <p:nvSpPr>
          <p:cNvPr id="10" name="Rounded Rectangle 9"/>
          <p:cNvSpPr/>
          <p:nvPr/>
        </p:nvSpPr>
        <p:spPr>
          <a:xfrm>
            <a:off x="548640" y="5349240"/>
            <a:ext cx="5394960" cy="77724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77240" y="5394960"/>
            <a:ext cx="5029200" cy="685800"/>
          </a:xfrm>
          <a:prstGeom prst="rect">
            <a:avLst/>
          </a:prstGeom>
          <a:noFill/>
        </p:spPr>
        <p:txBody>
          <a:bodyPr wrap="square" lIns="0" tIns="0" rIns="0" bIns="0" anchor="ctr">
            <a:spAutoFit/>
          </a:bodyPr>
          <a:lstStyle/>
          <a:p>
            <a:pPr algn="l"/>
            <a:r>
              <a:rPr sz="1400" b="0" i="0">
                <a:solidFill>
                  <a:srgbClr val="1E242C"/>
                </a:solidFill>
                <a:latin typeface="Calibri"/>
              </a:rPr>
              <a:t>A better forecast removes most stockouts; risk-triggered emergency orders remove much of the rest.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47472"/>
            <a:ext cx="8686800" cy="274320"/>
          </a:xfrm>
          <a:prstGeom prst="rect">
            <a:avLst/>
          </a:prstGeom>
          <a:noFill/>
        </p:spPr>
        <p:txBody>
          <a:bodyPr wrap="square" lIns="0" tIns="0" rIns="0" bIns="0" anchor="t">
            <a:spAutoFit/>
          </a:bodyPr>
          <a:lstStyle/>
          <a:p>
            <a:pPr algn="l"/>
            <a:r>
              <a:rPr sz="1100" b="1" i="0">
                <a:solidFill>
                  <a:srgbClr val="2E8B8B"/>
                </a:solidFill>
                <a:latin typeface="Calibri"/>
              </a:rPr>
              <a:t>FAIR COMPARISON</a:t>
            </a:r>
          </a:p>
        </p:txBody>
      </p:sp>
      <p:sp>
        <p:nvSpPr>
          <p:cNvPr id="3" name="Title"/>
          <p:cNvSpPr txBox="1"/>
          <p:nvPr/>
        </p:nvSpPr>
        <p:spPr>
          <a:xfrm>
            <a:off x="548640" y="603504"/>
            <a:ext cx="11064240" cy="731520"/>
          </a:xfrm>
          <a:prstGeom prst="rect">
            <a:avLst/>
          </a:prstGeom>
          <a:noFill/>
        </p:spPr>
        <p:txBody>
          <a:bodyPr wrap="square" lIns="0" tIns="0" rIns="0" bIns="0" anchor="t">
            <a:spAutoFit/>
          </a:bodyPr>
          <a:lstStyle/>
          <a:p>
            <a:pPr algn="l"/>
            <a:r>
              <a:rPr sz="3000" b="1" i="0">
                <a:solidFill>
                  <a:srgbClr val="1F3A5F"/>
                </a:solidFill>
                <a:latin typeface="Cambria"/>
              </a:rPr>
              <a:t>Same stock, fewer stockouts - it is not just "buy more"</a:t>
            </a:r>
          </a:p>
        </p:txBody>
      </p:sp>
      <p:pic>
        <p:nvPicPr>
          <p:cNvPr id="4" name="Picture 3" descr="nmims_logo.png"/>
          <p:cNvPicPr>
            <a:picLocks noChangeAspect="1"/>
          </p:cNvPicPr>
          <p:nvPr/>
        </p:nvPicPr>
        <p:blipFill>
          <a:blip r:embed="rId3"/>
          <a:stretch>
            <a:fillRect/>
          </a:stretch>
        </p:blipFill>
        <p:spPr>
          <a:xfrm>
            <a:off x="11109960" y="274320"/>
            <a:ext cx="570527" cy="566928"/>
          </a:xfrm>
          <a:prstGeom prst="rect">
            <a:avLst/>
          </a:prstGeom>
        </p:spPr>
      </p:pic>
      <p:sp>
        <p:nvSpPr>
          <p:cNvPr id="5" name="TextBox 4"/>
          <p:cNvSpPr txBox="1"/>
          <p:nvPr/>
        </p:nvSpPr>
        <p:spPr>
          <a:xfrm>
            <a:off x="548640" y="6446520"/>
            <a:ext cx="5486400" cy="228600"/>
          </a:xfrm>
          <a:prstGeom prst="rect">
            <a:avLst/>
          </a:prstGeom>
          <a:noFill/>
        </p:spPr>
        <p:txBody>
          <a:bodyPr wrap="square" lIns="0" tIns="0" rIns="0" bIns="0" anchor="t">
            <a:spAutoFit/>
          </a:bodyPr>
          <a:lstStyle/>
          <a:p>
            <a:pPr algn="l"/>
            <a:r>
              <a:rPr sz="900" b="0" i="0">
                <a:solidFill>
                  <a:srgbClr val="8A8F98"/>
                </a:solidFill>
                <a:latin typeface="Calibri"/>
              </a:rPr>
              <a:t>DemandIQ  |  NMIMS MPSTME  |  Machine Learning, Sem V</a:t>
            </a:r>
          </a:p>
        </p:txBody>
      </p:sp>
      <p:sp>
        <p:nvSpPr>
          <p:cNvPr id="6" name="TextBox 5"/>
          <p:cNvSpPr txBox="1"/>
          <p:nvPr/>
        </p:nvSpPr>
        <p:spPr>
          <a:xfrm>
            <a:off x="11155680" y="6446520"/>
            <a:ext cx="502920" cy="228600"/>
          </a:xfrm>
          <a:prstGeom prst="rect">
            <a:avLst/>
          </a:prstGeom>
          <a:noFill/>
        </p:spPr>
        <p:txBody>
          <a:bodyPr wrap="square" lIns="0" tIns="0" rIns="0" bIns="0" anchor="t">
            <a:spAutoFit/>
          </a:bodyPr>
          <a:lstStyle/>
          <a:p>
            <a:pPr algn="r"/>
            <a:r>
              <a:rPr sz="900" b="0" i="0">
                <a:solidFill>
                  <a:srgbClr val="8A8F98"/>
                </a:solidFill>
                <a:latin typeface="Calibri"/>
              </a:rPr>
              <a:t>15</a:t>
            </a:r>
          </a:p>
        </p:txBody>
      </p:sp>
      <p:pic>
        <p:nvPicPr>
          <p:cNvPr id="7" name="Picture 6" descr="fig24_tradeoff_frontier.png"/>
          <p:cNvPicPr>
            <a:picLocks noChangeAspect="1"/>
          </p:cNvPicPr>
          <p:nvPr/>
        </p:nvPicPr>
        <p:blipFill>
          <a:blip r:embed="rId4"/>
          <a:stretch>
            <a:fillRect/>
          </a:stretch>
        </p:blipFill>
        <p:spPr>
          <a:xfrm>
            <a:off x="548640" y="1877217"/>
            <a:ext cx="6675120" cy="3835084"/>
          </a:xfrm>
          <a:prstGeom prst="rect">
            <a:avLst/>
          </a:prstGeom>
        </p:spPr>
      </p:pic>
      <p:sp>
        <p:nvSpPr>
          <p:cNvPr id="8" name="Rounded Rectangle 7"/>
          <p:cNvSpPr/>
          <p:nvPr/>
        </p:nvSpPr>
        <p:spPr>
          <a:xfrm>
            <a:off x="7589520" y="1508760"/>
            <a:ext cx="4069080" cy="137160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818120" y="1618488"/>
            <a:ext cx="3657600" cy="365760"/>
          </a:xfrm>
          <a:prstGeom prst="rect">
            <a:avLst/>
          </a:prstGeom>
          <a:noFill/>
        </p:spPr>
        <p:txBody>
          <a:bodyPr wrap="square" lIns="0" tIns="0" rIns="0" bIns="0" anchor="t">
            <a:spAutoFit/>
          </a:bodyPr>
          <a:lstStyle/>
          <a:p>
            <a:pPr algn="l"/>
            <a:r>
              <a:rPr sz="1600" b="1" i="0">
                <a:solidFill>
                  <a:srgbClr val="1F3A5F"/>
                </a:solidFill>
                <a:latin typeface="Calibri"/>
              </a:rPr>
              <a:t>The question</a:t>
            </a:r>
          </a:p>
        </p:txBody>
      </p:sp>
      <p:sp>
        <p:nvSpPr>
          <p:cNvPr id="10" name="TextBox 9"/>
          <p:cNvSpPr txBox="1"/>
          <p:nvPr/>
        </p:nvSpPr>
        <p:spPr>
          <a:xfrm>
            <a:off x="7818120" y="1965960"/>
            <a:ext cx="3657600" cy="914400"/>
          </a:xfrm>
          <a:prstGeom prst="rect">
            <a:avLst/>
          </a:prstGeom>
          <a:noFill/>
        </p:spPr>
        <p:txBody>
          <a:bodyPr wrap="square" lIns="0" tIns="0" rIns="0" bIns="0" anchor="t">
            <a:spAutoFit/>
          </a:bodyPr>
          <a:lstStyle/>
          <a:p>
            <a:pPr algn="l"/>
            <a:r>
              <a:rPr sz="1300" b="0" i="0">
                <a:solidFill>
                  <a:srgbClr val="1E242C"/>
                </a:solidFill>
                <a:latin typeface="Calibri"/>
              </a:rPr>
              <a:t>Could the manager do just as well by keeping a bigger buffer?</a:t>
            </a:r>
          </a:p>
        </p:txBody>
      </p:sp>
      <p:sp>
        <p:nvSpPr>
          <p:cNvPr id="11" name="Rounded Rectangle 10"/>
          <p:cNvSpPr/>
          <p:nvPr/>
        </p:nvSpPr>
        <p:spPr>
          <a:xfrm>
            <a:off x="7589520" y="3063239"/>
            <a:ext cx="4069080" cy="137160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818120" y="3172968"/>
            <a:ext cx="3657600" cy="365760"/>
          </a:xfrm>
          <a:prstGeom prst="rect">
            <a:avLst/>
          </a:prstGeom>
          <a:noFill/>
        </p:spPr>
        <p:txBody>
          <a:bodyPr wrap="square" lIns="0" tIns="0" rIns="0" bIns="0" anchor="t">
            <a:spAutoFit/>
          </a:bodyPr>
          <a:lstStyle/>
          <a:p>
            <a:pPr algn="l"/>
            <a:r>
              <a:rPr sz="1600" b="1" i="0">
                <a:solidFill>
                  <a:srgbClr val="1F3A5F"/>
                </a:solidFill>
                <a:latin typeface="Calibri"/>
              </a:rPr>
              <a:t>The test</a:t>
            </a:r>
          </a:p>
        </p:txBody>
      </p:sp>
      <p:sp>
        <p:nvSpPr>
          <p:cNvPr id="13" name="TextBox 12"/>
          <p:cNvSpPr txBox="1"/>
          <p:nvPr/>
        </p:nvSpPr>
        <p:spPr>
          <a:xfrm>
            <a:off x="7818120" y="3520439"/>
            <a:ext cx="3657600" cy="914400"/>
          </a:xfrm>
          <a:prstGeom prst="rect">
            <a:avLst/>
          </a:prstGeom>
          <a:noFill/>
        </p:spPr>
        <p:txBody>
          <a:bodyPr wrap="square" lIns="0" tIns="0" rIns="0" bIns="0" anchor="t">
            <a:spAutoFit/>
          </a:bodyPr>
          <a:lstStyle/>
          <a:p>
            <a:pPr algn="l"/>
            <a:r>
              <a:rPr sz="1300" b="0" i="0">
                <a:solidFill>
                  <a:srgbClr val="1E242C"/>
                </a:solidFill>
                <a:latin typeface="Calibri"/>
              </a:rPr>
              <a:t>Replay both policies at many buffer and service-level settings.</a:t>
            </a:r>
          </a:p>
        </p:txBody>
      </p:sp>
      <p:sp>
        <p:nvSpPr>
          <p:cNvPr id="14" name="Rounded Rectangle 13"/>
          <p:cNvSpPr/>
          <p:nvPr/>
        </p:nvSpPr>
        <p:spPr>
          <a:xfrm>
            <a:off x="7589520" y="4617720"/>
            <a:ext cx="4069080" cy="1371600"/>
          </a:xfrm>
          <a:prstGeom prst="roundRect">
            <a:avLst>
              <a:gd name="adj" fmla="val 8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818120" y="4727448"/>
            <a:ext cx="3657600" cy="365760"/>
          </a:xfrm>
          <a:prstGeom prst="rect">
            <a:avLst/>
          </a:prstGeom>
          <a:noFill/>
        </p:spPr>
        <p:txBody>
          <a:bodyPr wrap="square" lIns="0" tIns="0" rIns="0" bIns="0" anchor="t">
            <a:spAutoFit/>
          </a:bodyPr>
          <a:lstStyle/>
          <a:p>
            <a:pPr algn="l"/>
            <a:r>
              <a:rPr sz="1600" b="1" i="0">
                <a:solidFill>
                  <a:srgbClr val="FFFFFF"/>
                </a:solidFill>
                <a:latin typeface="Calibri"/>
              </a:rPr>
              <a:t>The answer</a:t>
            </a:r>
          </a:p>
        </p:txBody>
      </p:sp>
      <p:sp>
        <p:nvSpPr>
          <p:cNvPr id="16" name="TextBox 15"/>
          <p:cNvSpPr txBox="1"/>
          <p:nvPr/>
        </p:nvSpPr>
        <p:spPr>
          <a:xfrm>
            <a:off x="7818120" y="5074920"/>
            <a:ext cx="3657600" cy="914400"/>
          </a:xfrm>
          <a:prstGeom prst="rect">
            <a:avLst/>
          </a:prstGeom>
          <a:noFill/>
        </p:spPr>
        <p:txBody>
          <a:bodyPr wrap="square" lIns="0" tIns="0" rIns="0" bIns="0" anchor="t">
            <a:spAutoFit/>
          </a:bodyPr>
          <a:lstStyle/>
          <a:p>
            <a:pPr algn="l"/>
            <a:r>
              <a:rPr sz="1300" b="0" i="0">
                <a:solidFill>
                  <a:srgbClr val="FFFFFF"/>
                </a:solidFill>
                <a:latin typeface="Calibri"/>
              </a:rPr>
              <a:t>At every level of stock, DemandIQ has fewer stockout days - it puts the stock on the right days, before promotions and holidays.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47472"/>
            <a:ext cx="8686800" cy="274320"/>
          </a:xfrm>
          <a:prstGeom prst="rect">
            <a:avLst/>
          </a:prstGeom>
          <a:noFill/>
        </p:spPr>
        <p:txBody>
          <a:bodyPr wrap="square" lIns="0" tIns="0" rIns="0" bIns="0" anchor="t">
            <a:spAutoFit/>
          </a:bodyPr>
          <a:lstStyle/>
          <a:p>
            <a:pPr algn="l"/>
            <a:r>
              <a:rPr sz="1100" b="1" i="0">
                <a:solidFill>
                  <a:srgbClr val="2E8B8B"/>
                </a:solidFill>
                <a:latin typeface="Calibri"/>
              </a:rPr>
              <a:t>EXPLAINABILITY (SHAP)</a:t>
            </a:r>
          </a:p>
        </p:txBody>
      </p:sp>
      <p:sp>
        <p:nvSpPr>
          <p:cNvPr id="3" name="Title"/>
          <p:cNvSpPr txBox="1"/>
          <p:nvPr/>
        </p:nvSpPr>
        <p:spPr>
          <a:xfrm>
            <a:off x="548640" y="603504"/>
            <a:ext cx="11064240" cy="731520"/>
          </a:xfrm>
          <a:prstGeom prst="rect">
            <a:avLst/>
          </a:prstGeom>
          <a:noFill/>
        </p:spPr>
        <p:txBody>
          <a:bodyPr wrap="square" lIns="0" tIns="0" rIns="0" bIns="0" anchor="t">
            <a:spAutoFit/>
          </a:bodyPr>
          <a:lstStyle/>
          <a:p>
            <a:pPr algn="l"/>
            <a:r>
              <a:rPr sz="3000" b="1" i="0">
                <a:solidFill>
                  <a:srgbClr val="1F3A5F"/>
                </a:solidFill>
                <a:latin typeface="Cambria"/>
              </a:rPr>
              <a:t>Every number comes with its reasons</a:t>
            </a:r>
          </a:p>
        </p:txBody>
      </p:sp>
      <p:pic>
        <p:nvPicPr>
          <p:cNvPr id="4" name="Picture 3" descr="nmims_logo.png"/>
          <p:cNvPicPr>
            <a:picLocks noChangeAspect="1"/>
          </p:cNvPicPr>
          <p:nvPr/>
        </p:nvPicPr>
        <p:blipFill>
          <a:blip r:embed="rId3"/>
          <a:stretch>
            <a:fillRect/>
          </a:stretch>
        </p:blipFill>
        <p:spPr>
          <a:xfrm>
            <a:off x="11109960" y="274320"/>
            <a:ext cx="570527" cy="566928"/>
          </a:xfrm>
          <a:prstGeom prst="rect">
            <a:avLst/>
          </a:prstGeom>
        </p:spPr>
      </p:pic>
      <p:sp>
        <p:nvSpPr>
          <p:cNvPr id="5" name="TextBox 4"/>
          <p:cNvSpPr txBox="1"/>
          <p:nvPr/>
        </p:nvSpPr>
        <p:spPr>
          <a:xfrm>
            <a:off x="548640" y="6446520"/>
            <a:ext cx="5486400" cy="228600"/>
          </a:xfrm>
          <a:prstGeom prst="rect">
            <a:avLst/>
          </a:prstGeom>
          <a:noFill/>
        </p:spPr>
        <p:txBody>
          <a:bodyPr wrap="square" lIns="0" tIns="0" rIns="0" bIns="0" anchor="t">
            <a:spAutoFit/>
          </a:bodyPr>
          <a:lstStyle/>
          <a:p>
            <a:pPr algn="l"/>
            <a:r>
              <a:rPr sz="900" b="0" i="0">
                <a:solidFill>
                  <a:srgbClr val="8A8F98"/>
                </a:solidFill>
                <a:latin typeface="Calibri"/>
              </a:rPr>
              <a:t>DemandIQ  |  NMIMS MPSTME  |  Machine Learning, Sem V</a:t>
            </a:r>
          </a:p>
        </p:txBody>
      </p:sp>
      <p:sp>
        <p:nvSpPr>
          <p:cNvPr id="6" name="TextBox 5"/>
          <p:cNvSpPr txBox="1"/>
          <p:nvPr/>
        </p:nvSpPr>
        <p:spPr>
          <a:xfrm>
            <a:off x="11155680" y="6446520"/>
            <a:ext cx="502920" cy="228600"/>
          </a:xfrm>
          <a:prstGeom prst="rect">
            <a:avLst/>
          </a:prstGeom>
          <a:noFill/>
        </p:spPr>
        <p:txBody>
          <a:bodyPr wrap="square" lIns="0" tIns="0" rIns="0" bIns="0" anchor="t">
            <a:spAutoFit/>
          </a:bodyPr>
          <a:lstStyle/>
          <a:p>
            <a:pPr algn="r"/>
            <a:r>
              <a:rPr sz="900" b="0" i="0">
                <a:solidFill>
                  <a:srgbClr val="8A8F98"/>
                </a:solidFill>
                <a:latin typeface="Calibri"/>
              </a:rPr>
              <a:t>16</a:t>
            </a:r>
          </a:p>
        </p:txBody>
      </p:sp>
      <p:pic>
        <p:nvPicPr>
          <p:cNvPr id="7" name="Picture 6" descr="fig19_shap_demand_global.png"/>
          <p:cNvPicPr>
            <a:picLocks noChangeAspect="1"/>
          </p:cNvPicPr>
          <p:nvPr/>
        </p:nvPicPr>
        <p:blipFill>
          <a:blip r:embed="rId4"/>
          <a:stretch>
            <a:fillRect/>
          </a:stretch>
        </p:blipFill>
        <p:spPr>
          <a:xfrm>
            <a:off x="548640" y="1895095"/>
            <a:ext cx="4572000" cy="2610608"/>
          </a:xfrm>
          <a:prstGeom prst="rect">
            <a:avLst/>
          </a:prstGeom>
        </p:spPr>
      </p:pic>
      <p:pic>
        <p:nvPicPr>
          <p:cNvPr id="8" name="Picture 7" descr="fig21_shap_demand_local.png"/>
          <p:cNvPicPr>
            <a:picLocks noChangeAspect="1"/>
          </p:cNvPicPr>
          <p:nvPr/>
        </p:nvPicPr>
        <p:blipFill>
          <a:blip r:embed="rId5"/>
          <a:stretch>
            <a:fillRect/>
          </a:stretch>
        </p:blipFill>
        <p:spPr>
          <a:xfrm>
            <a:off x="5349240" y="1678408"/>
            <a:ext cx="6309360" cy="2998262"/>
          </a:xfrm>
          <a:prstGeom prst="rect">
            <a:avLst/>
          </a:prstGeom>
        </p:spPr>
      </p:pic>
      <p:sp>
        <p:nvSpPr>
          <p:cNvPr id="9" name="TextBox 8"/>
          <p:cNvSpPr txBox="1"/>
          <p:nvPr/>
        </p:nvSpPr>
        <p:spPr>
          <a:xfrm>
            <a:off x="548640" y="5074920"/>
            <a:ext cx="4572000" cy="320040"/>
          </a:xfrm>
          <a:prstGeom prst="rect">
            <a:avLst/>
          </a:prstGeom>
          <a:noFill/>
        </p:spPr>
        <p:txBody>
          <a:bodyPr wrap="square" lIns="0" tIns="0" rIns="0" bIns="0" anchor="t">
            <a:spAutoFit/>
          </a:bodyPr>
          <a:lstStyle/>
          <a:p>
            <a:pPr algn="l"/>
            <a:r>
              <a:rPr sz="1400" b="1" i="0">
                <a:solidFill>
                  <a:srgbClr val="1F3A5F"/>
                </a:solidFill>
                <a:latin typeface="Calibri"/>
              </a:rPr>
              <a:t>Global: what drives demand across all stores</a:t>
            </a:r>
          </a:p>
        </p:txBody>
      </p:sp>
      <p:sp>
        <p:nvSpPr>
          <p:cNvPr id="10" name="TextBox 9"/>
          <p:cNvSpPr txBox="1"/>
          <p:nvPr/>
        </p:nvSpPr>
        <p:spPr>
          <a:xfrm>
            <a:off x="5394960" y="5074920"/>
            <a:ext cx="6263640" cy="320040"/>
          </a:xfrm>
          <a:prstGeom prst="rect">
            <a:avLst/>
          </a:prstGeom>
          <a:noFill/>
        </p:spPr>
        <p:txBody>
          <a:bodyPr wrap="square" lIns="0" tIns="0" rIns="0" bIns="0" anchor="t">
            <a:spAutoFit/>
          </a:bodyPr>
          <a:lstStyle/>
          <a:p>
            <a:pPr algn="l"/>
            <a:r>
              <a:rPr sz="1400" b="1" i="0">
                <a:solidFill>
                  <a:srgbClr val="1F3A5F"/>
                </a:solidFill>
                <a:latin typeface="Calibri"/>
              </a:rPr>
              <a:t>Local: why store 262 got 24,078 on Mon 1 Jun (actual 23,204)</a:t>
            </a:r>
          </a:p>
        </p:txBody>
      </p:sp>
      <p:sp>
        <p:nvSpPr>
          <p:cNvPr id="11" name="Rounded Rectangle 10"/>
          <p:cNvSpPr/>
          <p:nvPr/>
        </p:nvSpPr>
        <p:spPr>
          <a:xfrm>
            <a:off x="548640" y="5486400"/>
            <a:ext cx="11109960" cy="68580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77240" y="5513832"/>
            <a:ext cx="10698480" cy="640080"/>
          </a:xfrm>
          <a:prstGeom prst="rect">
            <a:avLst/>
          </a:prstGeom>
          <a:noFill/>
        </p:spPr>
        <p:txBody>
          <a:bodyPr wrap="square" lIns="0" tIns="0" rIns="0" bIns="0" anchor="ctr">
            <a:spAutoFit/>
          </a:bodyPr>
          <a:lstStyle/>
          <a:p>
            <a:pPr algn="l"/>
            <a:r>
              <a:rPr sz="1400" b="1" i="0">
                <a:solidFill>
                  <a:srgbClr val="1F3A5F"/>
                </a:solidFill>
                <a:latin typeface="Calibri"/>
              </a:rPr>
              <a:t>What-if with the model: </a:t>
            </a:r>
            <a:r>
              <a:rPr sz="1400" b="0" i="0">
                <a:solidFill>
                  <a:srgbClr val="1E242C"/>
                </a:solidFill>
                <a:latin typeface="Calibri"/>
              </a:rPr>
              <a:t>switching a promotion on lifts the forecast by 29% to 45% depending on the store segment. Shown as model behaviour, not proof of cause and effect.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47472"/>
            <a:ext cx="8686800" cy="274320"/>
          </a:xfrm>
          <a:prstGeom prst="rect">
            <a:avLst/>
          </a:prstGeom>
          <a:noFill/>
        </p:spPr>
        <p:txBody>
          <a:bodyPr wrap="square" lIns="0" tIns="0" rIns="0" bIns="0" anchor="t">
            <a:spAutoFit/>
          </a:bodyPr>
          <a:lstStyle/>
          <a:p>
            <a:pPr algn="l"/>
            <a:r>
              <a:rPr sz="1100" b="1" i="0">
                <a:solidFill>
                  <a:srgbClr val="2E8B8B"/>
                </a:solidFill>
                <a:latin typeface="Calibri"/>
              </a:rPr>
              <a:t>DASHBOARD</a:t>
            </a:r>
          </a:p>
        </p:txBody>
      </p:sp>
      <p:sp>
        <p:nvSpPr>
          <p:cNvPr id="3" name="Title"/>
          <p:cNvSpPr txBox="1"/>
          <p:nvPr/>
        </p:nvSpPr>
        <p:spPr>
          <a:xfrm>
            <a:off x="548640" y="603504"/>
            <a:ext cx="11064240" cy="731520"/>
          </a:xfrm>
          <a:prstGeom prst="rect">
            <a:avLst/>
          </a:prstGeom>
          <a:noFill/>
        </p:spPr>
        <p:txBody>
          <a:bodyPr wrap="square" lIns="0" tIns="0" rIns="0" bIns="0" anchor="t">
            <a:spAutoFit/>
          </a:bodyPr>
          <a:lstStyle/>
          <a:p>
            <a:pPr algn="l"/>
            <a:r>
              <a:rPr sz="3000" b="1" i="0">
                <a:solidFill>
                  <a:srgbClr val="1F3A5F"/>
                </a:solidFill>
                <a:latin typeface="Cambria"/>
              </a:rPr>
              <a:t>A six-page Streamlit app that managers can use</a:t>
            </a:r>
          </a:p>
        </p:txBody>
      </p:sp>
      <p:pic>
        <p:nvPicPr>
          <p:cNvPr id="4" name="Picture 3" descr="nmims_logo.png"/>
          <p:cNvPicPr>
            <a:picLocks noChangeAspect="1"/>
          </p:cNvPicPr>
          <p:nvPr/>
        </p:nvPicPr>
        <p:blipFill>
          <a:blip r:embed="rId3"/>
          <a:stretch>
            <a:fillRect/>
          </a:stretch>
        </p:blipFill>
        <p:spPr>
          <a:xfrm>
            <a:off x="11109960" y="274320"/>
            <a:ext cx="570527" cy="566928"/>
          </a:xfrm>
          <a:prstGeom prst="rect">
            <a:avLst/>
          </a:prstGeom>
        </p:spPr>
      </p:pic>
      <p:sp>
        <p:nvSpPr>
          <p:cNvPr id="5" name="TextBox 4"/>
          <p:cNvSpPr txBox="1"/>
          <p:nvPr/>
        </p:nvSpPr>
        <p:spPr>
          <a:xfrm>
            <a:off x="548640" y="6446520"/>
            <a:ext cx="5486400" cy="228600"/>
          </a:xfrm>
          <a:prstGeom prst="rect">
            <a:avLst/>
          </a:prstGeom>
          <a:noFill/>
        </p:spPr>
        <p:txBody>
          <a:bodyPr wrap="square" lIns="0" tIns="0" rIns="0" bIns="0" anchor="t">
            <a:spAutoFit/>
          </a:bodyPr>
          <a:lstStyle/>
          <a:p>
            <a:pPr algn="l"/>
            <a:r>
              <a:rPr sz="900" b="0" i="0">
                <a:solidFill>
                  <a:srgbClr val="8A8F98"/>
                </a:solidFill>
                <a:latin typeface="Calibri"/>
              </a:rPr>
              <a:t>DemandIQ  |  NMIMS MPSTME  |  Machine Learning, Sem V</a:t>
            </a:r>
          </a:p>
        </p:txBody>
      </p:sp>
      <p:sp>
        <p:nvSpPr>
          <p:cNvPr id="6" name="TextBox 5"/>
          <p:cNvSpPr txBox="1"/>
          <p:nvPr/>
        </p:nvSpPr>
        <p:spPr>
          <a:xfrm>
            <a:off x="11155680" y="6446520"/>
            <a:ext cx="502920" cy="228600"/>
          </a:xfrm>
          <a:prstGeom prst="rect">
            <a:avLst/>
          </a:prstGeom>
          <a:noFill/>
        </p:spPr>
        <p:txBody>
          <a:bodyPr wrap="square" lIns="0" tIns="0" rIns="0" bIns="0" anchor="t">
            <a:spAutoFit/>
          </a:bodyPr>
          <a:lstStyle/>
          <a:p>
            <a:pPr algn="r"/>
            <a:r>
              <a:rPr sz="900" b="0" i="0">
                <a:solidFill>
                  <a:srgbClr val="8A8F98"/>
                </a:solidFill>
                <a:latin typeface="Calibri"/>
              </a:rPr>
              <a:t>17</a:t>
            </a:r>
          </a:p>
        </p:txBody>
      </p:sp>
      <p:sp>
        <p:nvSpPr>
          <p:cNvPr id="7" name="Rounded Rectangle 6"/>
          <p:cNvSpPr/>
          <p:nvPr/>
        </p:nvSpPr>
        <p:spPr>
          <a:xfrm>
            <a:off x="548640" y="1417320"/>
            <a:ext cx="5440680" cy="402336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rop_whatif.png"/>
          <p:cNvPicPr>
            <a:picLocks noChangeAspect="1"/>
          </p:cNvPicPr>
          <p:nvPr/>
        </p:nvPicPr>
        <p:blipFill>
          <a:blip r:embed="rId4"/>
          <a:stretch>
            <a:fillRect/>
          </a:stretch>
        </p:blipFill>
        <p:spPr>
          <a:xfrm>
            <a:off x="922626" y="1508760"/>
            <a:ext cx="4692706" cy="3840480"/>
          </a:xfrm>
          <a:prstGeom prst="rect">
            <a:avLst/>
          </a:prstGeom>
        </p:spPr>
      </p:pic>
      <p:sp>
        <p:nvSpPr>
          <p:cNvPr id="9" name="Rounded Rectangle 8"/>
          <p:cNvSpPr/>
          <p:nvPr/>
        </p:nvSpPr>
        <p:spPr>
          <a:xfrm>
            <a:off x="6172200" y="1417320"/>
            <a:ext cx="5440680" cy="402336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crop_risk.png"/>
          <p:cNvPicPr>
            <a:picLocks noChangeAspect="1"/>
          </p:cNvPicPr>
          <p:nvPr/>
        </p:nvPicPr>
        <p:blipFill>
          <a:blip r:embed="rId5"/>
          <a:stretch>
            <a:fillRect/>
          </a:stretch>
        </p:blipFill>
        <p:spPr>
          <a:xfrm>
            <a:off x="6263640" y="1836051"/>
            <a:ext cx="5257800" cy="3185896"/>
          </a:xfrm>
          <a:prstGeom prst="rect">
            <a:avLst/>
          </a:prstGeom>
        </p:spPr>
      </p:pic>
      <p:sp>
        <p:nvSpPr>
          <p:cNvPr id="11" name="TextBox 10"/>
          <p:cNvSpPr txBox="1"/>
          <p:nvPr/>
        </p:nvSpPr>
        <p:spPr>
          <a:xfrm>
            <a:off x="548640" y="5577840"/>
            <a:ext cx="11109960" cy="548640"/>
          </a:xfrm>
          <a:prstGeom prst="rect">
            <a:avLst/>
          </a:prstGeom>
          <a:noFill/>
        </p:spPr>
        <p:txBody>
          <a:bodyPr wrap="square" lIns="0" tIns="0" rIns="0" bIns="0" anchor="t">
            <a:spAutoFit/>
          </a:bodyPr>
          <a:lstStyle/>
          <a:p>
            <a:pPr algn="ctr"/>
            <a:r>
              <a:rPr sz="1500" b="0" i="0">
                <a:solidFill>
                  <a:srgbClr val="5A6270"/>
                </a:solidFill>
                <a:latin typeface="Calibri"/>
              </a:rPr>
              <a:t>Overview  •  Store forecast  •  Risk &amp; reorder list  •  Why this forecast?  •  What-if simulator  •  Store segments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47472"/>
            <a:ext cx="8686800" cy="274320"/>
          </a:xfrm>
          <a:prstGeom prst="rect">
            <a:avLst/>
          </a:prstGeom>
          <a:noFill/>
        </p:spPr>
        <p:txBody>
          <a:bodyPr wrap="square" lIns="0" tIns="0" rIns="0" bIns="0" anchor="t">
            <a:spAutoFit/>
          </a:bodyPr>
          <a:lstStyle/>
          <a:p>
            <a:pPr algn="l"/>
            <a:r>
              <a:rPr sz="1100" b="1" i="0">
                <a:solidFill>
                  <a:srgbClr val="2E8B8B"/>
                </a:solidFill>
                <a:latin typeface="Calibri"/>
              </a:rPr>
              <a:t>LIMITATIONS AND FUTURE SCOPE</a:t>
            </a:r>
          </a:p>
        </p:txBody>
      </p:sp>
      <p:sp>
        <p:nvSpPr>
          <p:cNvPr id="3" name="Title"/>
          <p:cNvSpPr txBox="1"/>
          <p:nvPr/>
        </p:nvSpPr>
        <p:spPr>
          <a:xfrm>
            <a:off x="548640" y="603504"/>
            <a:ext cx="11064240" cy="731520"/>
          </a:xfrm>
          <a:prstGeom prst="rect">
            <a:avLst/>
          </a:prstGeom>
          <a:noFill/>
        </p:spPr>
        <p:txBody>
          <a:bodyPr wrap="square" lIns="0" tIns="0" rIns="0" bIns="0" anchor="t">
            <a:spAutoFit/>
          </a:bodyPr>
          <a:lstStyle/>
          <a:p>
            <a:pPr algn="l"/>
            <a:r>
              <a:rPr sz="3000" b="1" i="0">
                <a:solidFill>
                  <a:srgbClr val="1F3A5F"/>
                </a:solidFill>
                <a:latin typeface="Cambria"/>
              </a:rPr>
              <a:t>What we would do next</a:t>
            </a:r>
          </a:p>
        </p:txBody>
      </p:sp>
      <p:pic>
        <p:nvPicPr>
          <p:cNvPr id="4" name="Picture 3" descr="nmims_logo.png"/>
          <p:cNvPicPr>
            <a:picLocks noChangeAspect="1"/>
          </p:cNvPicPr>
          <p:nvPr/>
        </p:nvPicPr>
        <p:blipFill>
          <a:blip r:embed="rId3"/>
          <a:stretch>
            <a:fillRect/>
          </a:stretch>
        </p:blipFill>
        <p:spPr>
          <a:xfrm>
            <a:off x="11109960" y="274320"/>
            <a:ext cx="570527" cy="566928"/>
          </a:xfrm>
          <a:prstGeom prst="rect">
            <a:avLst/>
          </a:prstGeom>
        </p:spPr>
      </p:pic>
      <p:sp>
        <p:nvSpPr>
          <p:cNvPr id="5" name="TextBox 4"/>
          <p:cNvSpPr txBox="1"/>
          <p:nvPr/>
        </p:nvSpPr>
        <p:spPr>
          <a:xfrm>
            <a:off x="548640" y="6446520"/>
            <a:ext cx="5486400" cy="228600"/>
          </a:xfrm>
          <a:prstGeom prst="rect">
            <a:avLst/>
          </a:prstGeom>
          <a:noFill/>
        </p:spPr>
        <p:txBody>
          <a:bodyPr wrap="square" lIns="0" tIns="0" rIns="0" bIns="0" anchor="t">
            <a:spAutoFit/>
          </a:bodyPr>
          <a:lstStyle/>
          <a:p>
            <a:pPr algn="l"/>
            <a:r>
              <a:rPr sz="900" b="0" i="0">
                <a:solidFill>
                  <a:srgbClr val="8A8F98"/>
                </a:solidFill>
                <a:latin typeface="Calibri"/>
              </a:rPr>
              <a:t>DemandIQ  |  NMIMS MPSTME  |  Machine Learning, Sem V</a:t>
            </a:r>
          </a:p>
        </p:txBody>
      </p:sp>
      <p:sp>
        <p:nvSpPr>
          <p:cNvPr id="6" name="TextBox 5"/>
          <p:cNvSpPr txBox="1"/>
          <p:nvPr/>
        </p:nvSpPr>
        <p:spPr>
          <a:xfrm>
            <a:off x="11155680" y="6446520"/>
            <a:ext cx="502920" cy="228600"/>
          </a:xfrm>
          <a:prstGeom prst="rect">
            <a:avLst/>
          </a:prstGeom>
          <a:noFill/>
        </p:spPr>
        <p:txBody>
          <a:bodyPr wrap="square" lIns="0" tIns="0" rIns="0" bIns="0" anchor="t">
            <a:spAutoFit/>
          </a:bodyPr>
          <a:lstStyle/>
          <a:p>
            <a:pPr algn="r"/>
            <a:r>
              <a:rPr sz="900" b="0" i="0">
                <a:solidFill>
                  <a:srgbClr val="8A8F98"/>
                </a:solidFill>
                <a:latin typeface="Calibri"/>
              </a:rPr>
              <a:t>18</a:t>
            </a:r>
          </a:p>
        </p:txBody>
      </p:sp>
      <p:sp>
        <p:nvSpPr>
          <p:cNvPr id="7" name="Rounded Rectangle 6"/>
          <p:cNvSpPr/>
          <p:nvPr/>
        </p:nvSpPr>
        <p:spPr>
          <a:xfrm>
            <a:off x="548640" y="1508760"/>
            <a:ext cx="5440680" cy="457200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68680" y="1691640"/>
            <a:ext cx="4846320" cy="457200"/>
          </a:xfrm>
          <a:prstGeom prst="rect">
            <a:avLst/>
          </a:prstGeom>
          <a:noFill/>
        </p:spPr>
        <p:txBody>
          <a:bodyPr wrap="square" lIns="0" tIns="0" rIns="0" bIns="0" anchor="t">
            <a:spAutoFit/>
          </a:bodyPr>
          <a:lstStyle/>
          <a:p>
            <a:pPr algn="l"/>
            <a:r>
              <a:rPr sz="2100" b="1" i="0">
                <a:solidFill>
                  <a:srgbClr val="B23A48"/>
                </a:solidFill>
                <a:latin typeface="Cambria"/>
              </a:rPr>
              <a:t>Limitations</a:t>
            </a:r>
          </a:p>
        </p:txBody>
      </p:sp>
      <p:sp>
        <p:nvSpPr>
          <p:cNvPr id="9" name="Oval 8"/>
          <p:cNvSpPr/>
          <p:nvPr/>
        </p:nvSpPr>
        <p:spPr>
          <a:xfrm>
            <a:off x="868680" y="2423160"/>
            <a:ext cx="384048" cy="384048"/>
          </a:xfrm>
          <a:prstGeom prst="ellipse">
            <a:avLst/>
          </a:prstGeom>
          <a:solidFill>
            <a:srgbClr val="B23A4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1</a:t>
            </a:r>
          </a:p>
        </p:txBody>
      </p:sp>
      <p:sp>
        <p:nvSpPr>
          <p:cNvPr id="10" name="TextBox 9"/>
          <p:cNvSpPr txBox="1"/>
          <p:nvPr/>
        </p:nvSpPr>
        <p:spPr>
          <a:xfrm>
            <a:off x="1417319" y="2377440"/>
            <a:ext cx="4343400" cy="777240"/>
          </a:xfrm>
          <a:prstGeom prst="rect">
            <a:avLst/>
          </a:prstGeom>
          <a:noFill/>
        </p:spPr>
        <p:txBody>
          <a:bodyPr wrap="square" lIns="0" tIns="0" rIns="0" bIns="0" anchor="t">
            <a:spAutoFit/>
          </a:bodyPr>
          <a:lstStyle/>
          <a:p>
            <a:pPr algn="l"/>
            <a:r>
              <a:rPr sz="1600" b="0" i="0">
                <a:solidFill>
                  <a:srgbClr val="1E242C"/>
                </a:solidFill>
                <a:latin typeface="Calibri"/>
              </a:rPr>
              <a:t>Stock is simulated, not observed</a:t>
            </a:r>
          </a:p>
        </p:txBody>
      </p:sp>
      <p:sp>
        <p:nvSpPr>
          <p:cNvPr id="11" name="Oval 10"/>
          <p:cNvSpPr/>
          <p:nvPr/>
        </p:nvSpPr>
        <p:spPr>
          <a:xfrm>
            <a:off x="868680" y="3319272"/>
            <a:ext cx="384048" cy="384048"/>
          </a:xfrm>
          <a:prstGeom prst="ellipse">
            <a:avLst/>
          </a:prstGeom>
          <a:solidFill>
            <a:srgbClr val="B23A4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2</a:t>
            </a:r>
          </a:p>
        </p:txBody>
      </p:sp>
      <p:sp>
        <p:nvSpPr>
          <p:cNvPr id="12" name="TextBox 11"/>
          <p:cNvSpPr txBox="1"/>
          <p:nvPr/>
        </p:nvSpPr>
        <p:spPr>
          <a:xfrm>
            <a:off x="1417319" y="3273552"/>
            <a:ext cx="4343400" cy="777240"/>
          </a:xfrm>
          <a:prstGeom prst="rect">
            <a:avLst/>
          </a:prstGeom>
          <a:noFill/>
        </p:spPr>
        <p:txBody>
          <a:bodyPr wrap="square" lIns="0" tIns="0" rIns="0" bIns="0" anchor="t">
            <a:spAutoFit/>
          </a:bodyPr>
          <a:lstStyle/>
          <a:p>
            <a:pPr algn="l"/>
            <a:r>
              <a:rPr sz="1600" b="0" i="0">
                <a:solidFill>
                  <a:srgbClr val="1E242C"/>
                </a:solidFill>
                <a:latin typeface="Calibri"/>
              </a:rPr>
              <a:t>Store level, not product (SKU) level</a:t>
            </a:r>
          </a:p>
        </p:txBody>
      </p:sp>
      <p:sp>
        <p:nvSpPr>
          <p:cNvPr id="13" name="Oval 12"/>
          <p:cNvSpPr/>
          <p:nvPr/>
        </p:nvSpPr>
        <p:spPr>
          <a:xfrm>
            <a:off x="868680" y="4215384"/>
            <a:ext cx="384048" cy="384048"/>
          </a:xfrm>
          <a:prstGeom prst="ellipse">
            <a:avLst/>
          </a:prstGeom>
          <a:solidFill>
            <a:srgbClr val="B23A4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3</a:t>
            </a:r>
          </a:p>
        </p:txBody>
      </p:sp>
      <p:sp>
        <p:nvSpPr>
          <p:cNvPr id="14" name="TextBox 13"/>
          <p:cNvSpPr txBox="1"/>
          <p:nvPr/>
        </p:nvSpPr>
        <p:spPr>
          <a:xfrm>
            <a:off x="1417319" y="4169664"/>
            <a:ext cx="4343400" cy="777240"/>
          </a:xfrm>
          <a:prstGeom prst="rect">
            <a:avLst/>
          </a:prstGeom>
          <a:noFill/>
        </p:spPr>
        <p:txBody>
          <a:bodyPr wrap="square" lIns="0" tIns="0" rIns="0" bIns="0" anchor="t">
            <a:spAutoFit/>
          </a:bodyPr>
          <a:lstStyle/>
          <a:p>
            <a:pPr algn="l"/>
            <a:r>
              <a:rPr sz="1600" b="0" i="0">
                <a:solidFill>
                  <a:srgbClr val="1E242C"/>
                </a:solidFill>
                <a:latin typeface="Calibri"/>
              </a:rPr>
              <a:t>No price data - price lever uses a stated elasticity</a:t>
            </a:r>
          </a:p>
        </p:txBody>
      </p:sp>
      <p:sp>
        <p:nvSpPr>
          <p:cNvPr id="15" name="Oval 14"/>
          <p:cNvSpPr/>
          <p:nvPr/>
        </p:nvSpPr>
        <p:spPr>
          <a:xfrm>
            <a:off x="868680" y="5111496"/>
            <a:ext cx="384048" cy="384048"/>
          </a:xfrm>
          <a:prstGeom prst="ellipse">
            <a:avLst/>
          </a:prstGeom>
          <a:solidFill>
            <a:srgbClr val="B23A4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4</a:t>
            </a:r>
          </a:p>
        </p:txBody>
      </p:sp>
      <p:sp>
        <p:nvSpPr>
          <p:cNvPr id="16" name="TextBox 15"/>
          <p:cNvSpPr txBox="1"/>
          <p:nvPr/>
        </p:nvSpPr>
        <p:spPr>
          <a:xfrm>
            <a:off x="1417319" y="5065776"/>
            <a:ext cx="4343400" cy="777240"/>
          </a:xfrm>
          <a:prstGeom prst="rect">
            <a:avLst/>
          </a:prstGeom>
          <a:noFill/>
        </p:spPr>
        <p:txBody>
          <a:bodyPr wrap="square" lIns="0" tIns="0" rIns="0" bIns="0" anchor="t">
            <a:spAutoFit/>
          </a:bodyPr>
          <a:lstStyle/>
          <a:p>
            <a:pPr algn="l"/>
            <a:r>
              <a:rPr sz="1600" b="0" i="0">
                <a:solidFill>
                  <a:srgbClr val="1E242C"/>
                </a:solidFill>
                <a:latin typeface="Calibri"/>
              </a:rPr>
              <a:t>P10-P90 band covers 73%, not 80%</a:t>
            </a:r>
          </a:p>
        </p:txBody>
      </p:sp>
      <p:sp>
        <p:nvSpPr>
          <p:cNvPr id="17" name="Rounded Rectangle 16"/>
          <p:cNvSpPr/>
          <p:nvPr/>
        </p:nvSpPr>
        <p:spPr>
          <a:xfrm>
            <a:off x="6172200" y="1508760"/>
            <a:ext cx="5440680" cy="457200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492240" y="1691640"/>
            <a:ext cx="4846320" cy="457200"/>
          </a:xfrm>
          <a:prstGeom prst="rect">
            <a:avLst/>
          </a:prstGeom>
          <a:noFill/>
        </p:spPr>
        <p:txBody>
          <a:bodyPr wrap="square" lIns="0" tIns="0" rIns="0" bIns="0" anchor="t">
            <a:spAutoFit/>
          </a:bodyPr>
          <a:lstStyle/>
          <a:p>
            <a:pPr algn="l"/>
            <a:r>
              <a:rPr sz="2100" b="1" i="0">
                <a:solidFill>
                  <a:srgbClr val="2E8B8B"/>
                </a:solidFill>
                <a:latin typeface="Cambria"/>
              </a:rPr>
              <a:t>Future scope</a:t>
            </a:r>
          </a:p>
        </p:txBody>
      </p:sp>
      <p:sp>
        <p:nvSpPr>
          <p:cNvPr id="19" name="Oval 18"/>
          <p:cNvSpPr/>
          <p:nvPr/>
        </p:nvSpPr>
        <p:spPr>
          <a:xfrm>
            <a:off x="6492240" y="2423160"/>
            <a:ext cx="384048" cy="384048"/>
          </a:xfrm>
          <a:prstGeom prst="ellipse">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1</a:t>
            </a:r>
          </a:p>
        </p:txBody>
      </p:sp>
      <p:sp>
        <p:nvSpPr>
          <p:cNvPr id="20" name="TextBox 19"/>
          <p:cNvSpPr txBox="1"/>
          <p:nvPr/>
        </p:nvSpPr>
        <p:spPr>
          <a:xfrm>
            <a:off x="7040880" y="2377440"/>
            <a:ext cx="4343400" cy="777240"/>
          </a:xfrm>
          <a:prstGeom prst="rect">
            <a:avLst/>
          </a:prstGeom>
          <a:noFill/>
        </p:spPr>
        <p:txBody>
          <a:bodyPr wrap="square" lIns="0" tIns="0" rIns="0" bIns="0" anchor="t">
            <a:spAutoFit/>
          </a:bodyPr>
          <a:lstStyle/>
          <a:p>
            <a:pPr algn="l"/>
            <a:r>
              <a:rPr sz="1600" b="0" i="0">
                <a:solidFill>
                  <a:srgbClr val="1E242C"/>
                </a:solidFill>
                <a:latin typeface="Calibri"/>
              </a:rPr>
              <a:t>Validate on data with real stockout labels (FreshRetailNet-50K)</a:t>
            </a:r>
          </a:p>
        </p:txBody>
      </p:sp>
      <p:sp>
        <p:nvSpPr>
          <p:cNvPr id="21" name="Oval 20"/>
          <p:cNvSpPr/>
          <p:nvPr/>
        </p:nvSpPr>
        <p:spPr>
          <a:xfrm>
            <a:off x="6492240" y="3319272"/>
            <a:ext cx="384048" cy="384048"/>
          </a:xfrm>
          <a:prstGeom prst="ellipse">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2</a:t>
            </a:r>
          </a:p>
        </p:txBody>
      </p:sp>
      <p:sp>
        <p:nvSpPr>
          <p:cNvPr id="22" name="TextBox 21"/>
          <p:cNvSpPr txBox="1"/>
          <p:nvPr/>
        </p:nvSpPr>
        <p:spPr>
          <a:xfrm>
            <a:off x="7040880" y="3273552"/>
            <a:ext cx="4343400" cy="777240"/>
          </a:xfrm>
          <a:prstGeom prst="rect">
            <a:avLst/>
          </a:prstGeom>
          <a:noFill/>
        </p:spPr>
        <p:txBody>
          <a:bodyPr wrap="square" lIns="0" tIns="0" rIns="0" bIns="0" anchor="t">
            <a:spAutoFit/>
          </a:bodyPr>
          <a:lstStyle/>
          <a:p>
            <a:pPr algn="l"/>
            <a:r>
              <a:rPr sz="1600" b="0" i="0">
                <a:solidFill>
                  <a:srgbClr val="1E242C"/>
                </a:solidFill>
                <a:latin typeface="Calibri"/>
              </a:rPr>
              <a:t>Indian retail with a festival calendar</a:t>
            </a:r>
          </a:p>
        </p:txBody>
      </p:sp>
      <p:sp>
        <p:nvSpPr>
          <p:cNvPr id="23" name="Oval 22"/>
          <p:cNvSpPr/>
          <p:nvPr/>
        </p:nvSpPr>
        <p:spPr>
          <a:xfrm>
            <a:off x="6492240" y="4215384"/>
            <a:ext cx="384048" cy="384048"/>
          </a:xfrm>
          <a:prstGeom prst="ellipse">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3</a:t>
            </a:r>
          </a:p>
        </p:txBody>
      </p:sp>
      <p:sp>
        <p:nvSpPr>
          <p:cNvPr id="24" name="TextBox 23"/>
          <p:cNvSpPr txBox="1"/>
          <p:nvPr/>
        </p:nvSpPr>
        <p:spPr>
          <a:xfrm>
            <a:off x="7040880" y="4169664"/>
            <a:ext cx="4343400" cy="777240"/>
          </a:xfrm>
          <a:prstGeom prst="rect">
            <a:avLst/>
          </a:prstGeom>
          <a:noFill/>
        </p:spPr>
        <p:txBody>
          <a:bodyPr wrap="square" lIns="0" tIns="0" rIns="0" bIns="0" anchor="t">
            <a:spAutoFit/>
          </a:bodyPr>
          <a:lstStyle/>
          <a:p>
            <a:pPr algn="l"/>
            <a:r>
              <a:rPr sz="1600" b="0" i="0">
                <a:solidFill>
                  <a:srgbClr val="1E242C"/>
                </a:solidFill>
                <a:latin typeface="Calibri"/>
              </a:rPr>
              <a:t>Causal price effect with double/debiased ML</a:t>
            </a:r>
          </a:p>
        </p:txBody>
      </p:sp>
      <p:sp>
        <p:nvSpPr>
          <p:cNvPr id="25" name="Oval 24"/>
          <p:cNvSpPr/>
          <p:nvPr/>
        </p:nvSpPr>
        <p:spPr>
          <a:xfrm>
            <a:off x="6492240" y="5111496"/>
            <a:ext cx="384048" cy="384048"/>
          </a:xfrm>
          <a:prstGeom prst="ellipse">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4</a:t>
            </a:r>
          </a:p>
        </p:txBody>
      </p:sp>
      <p:sp>
        <p:nvSpPr>
          <p:cNvPr id="26" name="TextBox 25"/>
          <p:cNvSpPr txBox="1"/>
          <p:nvPr/>
        </p:nvSpPr>
        <p:spPr>
          <a:xfrm>
            <a:off x="7040880" y="5065776"/>
            <a:ext cx="4343400" cy="777240"/>
          </a:xfrm>
          <a:prstGeom prst="rect">
            <a:avLst/>
          </a:prstGeom>
          <a:noFill/>
        </p:spPr>
        <p:txBody>
          <a:bodyPr wrap="square" lIns="0" tIns="0" rIns="0" bIns="0" anchor="t">
            <a:spAutoFit/>
          </a:bodyPr>
          <a:lstStyle/>
          <a:p>
            <a:pPr algn="l"/>
            <a:r>
              <a:rPr sz="1600" b="0" i="0">
                <a:solidFill>
                  <a:srgbClr val="1E242C"/>
                </a:solidFill>
                <a:latin typeface="Calibri"/>
              </a:rPr>
              <a:t>Weekly retraining and an evening HIGH-risk alert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F3A5F"/>
        </a:solidFill>
        <a:effectLst/>
      </p:bgPr>
    </p:bg>
    <p:spTree>
      <p:nvGrpSpPr>
        <p:cNvPr id="1" name=""/>
        <p:cNvGrpSpPr/>
        <p:nvPr/>
      </p:nvGrpSpPr>
      <p:grpSpPr>
        <a:xfrm>
          <a:off x="0" y="0"/>
          <a:ext cx="0" cy="0"/>
          <a:chOff x="0" y="0"/>
          <a:chExt cx="0" cy="0"/>
        </a:xfrm>
      </p:grpSpPr>
      <p:sp>
        <p:nvSpPr>
          <p:cNvPr id="2" name="TextBox 1"/>
          <p:cNvSpPr txBox="1"/>
          <p:nvPr/>
        </p:nvSpPr>
        <p:spPr>
          <a:xfrm>
            <a:off x="548640" y="548640"/>
            <a:ext cx="10972800" cy="365760"/>
          </a:xfrm>
          <a:prstGeom prst="rect">
            <a:avLst/>
          </a:prstGeom>
          <a:noFill/>
        </p:spPr>
        <p:txBody>
          <a:bodyPr wrap="square" lIns="0" tIns="0" rIns="0" bIns="0" anchor="t">
            <a:spAutoFit/>
          </a:bodyPr>
          <a:lstStyle/>
          <a:p>
            <a:pPr algn="l"/>
            <a:r>
              <a:rPr sz="1200" b="1" i="0">
                <a:solidFill>
                  <a:srgbClr val="F2C16B"/>
                </a:solidFill>
                <a:latin typeface="Calibri"/>
              </a:rPr>
              <a:t>CONCLUSION</a:t>
            </a:r>
          </a:p>
        </p:txBody>
      </p:sp>
      <p:sp>
        <p:nvSpPr>
          <p:cNvPr id="3" name="TextBox 2"/>
          <p:cNvSpPr txBox="1"/>
          <p:nvPr/>
        </p:nvSpPr>
        <p:spPr>
          <a:xfrm>
            <a:off x="548640" y="868680"/>
            <a:ext cx="10972800" cy="822960"/>
          </a:xfrm>
          <a:prstGeom prst="rect">
            <a:avLst/>
          </a:prstGeom>
          <a:noFill/>
        </p:spPr>
        <p:txBody>
          <a:bodyPr wrap="square" lIns="0" tIns="0" rIns="0" bIns="0" anchor="t">
            <a:spAutoFit/>
          </a:bodyPr>
          <a:lstStyle/>
          <a:p>
            <a:pPr algn="l"/>
            <a:r>
              <a:rPr sz="3000" b="1" i="0">
                <a:solidFill>
                  <a:srgbClr val="FFFFFF"/>
                </a:solidFill>
                <a:latin typeface="Cambria"/>
              </a:rPr>
              <a:t>A forecast creates value only when it becomes an explained decision</a:t>
            </a:r>
          </a:p>
        </p:txBody>
      </p:sp>
      <p:sp>
        <p:nvSpPr>
          <p:cNvPr id="4" name="Rounded Rectangle 3"/>
          <p:cNvSpPr/>
          <p:nvPr/>
        </p:nvSpPr>
        <p:spPr>
          <a:xfrm>
            <a:off x="548640" y="2103120"/>
            <a:ext cx="2651760" cy="1737360"/>
          </a:xfrm>
          <a:prstGeom prst="roundRect">
            <a:avLst>
              <a:gd name="adj" fmla="val 8000"/>
            </a:avLst>
          </a:prstGeom>
          <a:solidFill>
            <a:srgbClr val="162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822959" y="2240280"/>
            <a:ext cx="2194560" cy="822960"/>
          </a:xfrm>
          <a:prstGeom prst="rect">
            <a:avLst/>
          </a:prstGeom>
          <a:noFill/>
        </p:spPr>
        <p:txBody>
          <a:bodyPr wrap="square" lIns="0" tIns="0" rIns="0" bIns="0" anchor="t">
            <a:spAutoFit/>
          </a:bodyPr>
          <a:lstStyle/>
          <a:p>
            <a:pPr algn="l"/>
            <a:r>
              <a:rPr sz="4000" b="1" i="0">
                <a:solidFill>
                  <a:srgbClr val="FFFFFF"/>
                </a:solidFill>
                <a:latin typeface="Cambria"/>
              </a:rPr>
              <a:t>8.0%</a:t>
            </a:r>
          </a:p>
        </p:txBody>
      </p:sp>
      <p:sp>
        <p:nvSpPr>
          <p:cNvPr id="6" name="TextBox 5"/>
          <p:cNvSpPr txBox="1"/>
          <p:nvPr/>
        </p:nvSpPr>
        <p:spPr>
          <a:xfrm>
            <a:off x="822959" y="3063240"/>
            <a:ext cx="2240280" cy="640080"/>
          </a:xfrm>
          <a:prstGeom prst="rect">
            <a:avLst/>
          </a:prstGeom>
          <a:noFill/>
        </p:spPr>
        <p:txBody>
          <a:bodyPr wrap="square" lIns="0" tIns="0" rIns="0" bIns="0" anchor="t">
            <a:spAutoFit/>
          </a:bodyPr>
          <a:lstStyle/>
          <a:p>
            <a:pPr algn="l"/>
            <a:r>
              <a:rPr sz="1400" b="0" i="0">
                <a:solidFill>
                  <a:srgbClr val="C9D6E3"/>
                </a:solidFill>
                <a:latin typeface="Calibri"/>
              </a:rPr>
              <a:t>demand forecast error (MAPE)</a:t>
            </a:r>
          </a:p>
        </p:txBody>
      </p:sp>
      <p:sp>
        <p:nvSpPr>
          <p:cNvPr id="7" name="Rounded Rectangle 6"/>
          <p:cNvSpPr/>
          <p:nvPr/>
        </p:nvSpPr>
        <p:spPr>
          <a:xfrm>
            <a:off x="3383280" y="2103120"/>
            <a:ext cx="2651760" cy="1737360"/>
          </a:xfrm>
          <a:prstGeom prst="roundRect">
            <a:avLst>
              <a:gd name="adj" fmla="val 8000"/>
            </a:avLst>
          </a:prstGeom>
          <a:solidFill>
            <a:srgbClr val="162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657600" y="2240280"/>
            <a:ext cx="2194560" cy="822960"/>
          </a:xfrm>
          <a:prstGeom prst="rect">
            <a:avLst/>
          </a:prstGeom>
          <a:noFill/>
        </p:spPr>
        <p:txBody>
          <a:bodyPr wrap="square" lIns="0" tIns="0" rIns="0" bIns="0" anchor="t">
            <a:spAutoFit/>
          </a:bodyPr>
          <a:lstStyle/>
          <a:p>
            <a:pPr algn="l"/>
            <a:r>
              <a:rPr sz="4000" b="1" i="0">
                <a:solidFill>
                  <a:srgbClr val="FFFFFF"/>
                </a:solidFill>
                <a:latin typeface="Cambria"/>
              </a:rPr>
              <a:t>0.87</a:t>
            </a:r>
          </a:p>
        </p:txBody>
      </p:sp>
      <p:sp>
        <p:nvSpPr>
          <p:cNvPr id="9" name="TextBox 8"/>
          <p:cNvSpPr txBox="1"/>
          <p:nvPr/>
        </p:nvSpPr>
        <p:spPr>
          <a:xfrm>
            <a:off x="3657600" y="3063240"/>
            <a:ext cx="2240280" cy="640080"/>
          </a:xfrm>
          <a:prstGeom prst="rect">
            <a:avLst/>
          </a:prstGeom>
          <a:noFill/>
        </p:spPr>
        <p:txBody>
          <a:bodyPr wrap="square" lIns="0" tIns="0" rIns="0" bIns="0" anchor="t">
            <a:spAutoFit/>
          </a:bodyPr>
          <a:lstStyle/>
          <a:p>
            <a:pPr algn="l"/>
            <a:r>
              <a:rPr sz="1400" b="0" i="0">
                <a:solidFill>
                  <a:srgbClr val="C9D6E3"/>
                </a:solidFill>
                <a:latin typeface="Calibri"/>
              </a:rPr>
              <a:t>ROC-AUC for 3-day stockout risk</a:t>
            </a:r>
          </a:p>
        </p:txBody>
      </p:sp>
      <p:sp>
        <p:nvSpPr>
          <p:cNvPr id="10" name="Rounded Rectangle 9"/>
          <p:cNvSpPr/>
          <p:nvPr/>
        </p:nvSpPr>
        <p:spPr>
          <a:xfrm>
            <a:off x="6217920" y="2103120"/>
            <a:ext cx="2651760" cy="1737360"/>
          </a:xfrm>
          <a:prstGeom prst="roundRect">
            <a:avLst>
              <a:gd name="adj" fmla="val 8000"/>
            </a:avLst>
          </a:prstGeom>
          <a:solidFill>
            <a:srgbClr val="162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492240" y="2240280"/>
            <a:ext cx="2194560" cy="822960"/>
          </a:xfrm>
          <a:prstGeom prst="rect">
            <a:avLst/>
          </a:prstGeom>
          <a:noFill/>
        </p:spPr>
        <p:txBody>
          <a:bodyPr wrap="square" lIns="0" tIns="0" rIns="0" bIns="0" anchor="t">
            <a:spAutoFit/>
          </a:bodyPr>
          <a:lstStyle/>
          <a:p>
            <a:pPr algn="l"/>
            <a:r>
              <a:rPr sz="4000" b="1" i="0">
                <a:solidFill>
                  <a:srgbClr val="FFFFFF"/>
                </a:solidFill>
                <a:latin typeface="Cambria"/>
              </a:rPr>
              <a:t>80%</a:t>
            </a:r>
          </a:p>
        </p:txBody>
      </p:sp>
      <p:sp>
        <p:nvSpPr>
          <p:cNvPr id="12" name="TextBox 11"/>
          <p:cNvSpPr txBox="1"/>
          <p:nvPr/>
        </p:nvSpPr>
        <p:spPr>
          <a:xfrm>
            <a:off x="6492240" y="3063240"/>
            <a:ext cx="2240280" cy="640080"/>
          </a:xfrm>
          <a:prstGeom prst="rect">
            <a:avLst/>
          </a:prstGeom>
          <a:noFill/>
        </p:spPr>
        <p:txBody>
          <a:bodyPr wrap="square" lIns="0" tIns="0" rIns="0" bIns="0" anchor="t">
            <a:spAutoFit/>
          </a:bodyPr>
          <a:lstStyle/>
          <a:p>
            <a:pPr algn="l"/>
            <a:r>
              <a:rPr sz="1400" b="0" i="0">
                <a:solidFill>
                  <a:srgbClr val="C9D6E3"/>
                </a:solidFill>
                <a:latin typeface="Calibri"/>
              </a:rPr>
              <a:t>fewer stockout days than the manager rule</a:t>
            </a:r>
          </a:p>
        </p:txBody>
      </p:sp>
      <p:sp>
        <p:nvSpPr>
          <p:cNvPr id="13" name="Rounded Rectangle 12"/>
          <p:cNvSpPr/>
          <p:nvPr/>
        </p:nvSpPr>
        <p:spPr>
          <a:xfrm>
            <a:off x="9052560" y="2103120"/>
            <a:ext cx="2651760" cy="1737360"/>
          </a:xfrm>
          <a:prstGeom prst="roundRect">
            <a:avLst>
              <a:gd name="adj" fmla="val 8000"/>
            </a:avLst>
          </a:prstGeom>
          <a:solidFill>
            <a:srgbClr val="162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9326880" y="2240280"/>
            <a:ext cx="2194560" cy="822960"/>
          </a:xfrm>
          <a:prstGeom prst="rect">
            <a:avLst/>
          </a:prstGeom>
          <a:noFill/>
        </p:spPr>
        <p:txBody>
          <a:bodyPr wrap="square" lIns="0" tIns="0" rIns="0" bIns="0" anchor="t">
            <a:spAutoFit/>
          </a:bodyPr>
          <a:lstStyle/>
          <a:p>
            <a:pPr algn="l"/>
            <a:r>
              <a:rPr sz="4000" b="1" i="0">
                <a:solidFill>
                  <a:srgbClr val="FFFFFF"/>
                </a:solidFill>
                <a:latin typeface="Cambria"/>
              </a:rPr>
              <a:t>63%</a:t>
            </a:r>
          </a:p>
        </p:txBody>
      </p:sp>
      <p:sp>
        <p:nvSpPr>
          <p:cNvPr id="15" name="TextBox 14"/>
          <p:cNvSpPr txBox="1"/>
          <p:nvPr/>
        </p:nvSpPr>
        <p:spPr>
          <a:xfrm>
            <a:off x="9326880" y="3063240"/>
            <a:ext cx="2240280" cy="640080"/>
          </a:xfrm>
          <a:prstGeom prst="rect">
            <a:avLst/>
          </a:prstGeom>
          <a:noFill/>
        </p:spPr>
        <p:txBody>
          <a:bodyPr wrap="square" lIns="0" tIns="0" rIns="0" bIns="0" anchor="t">
            <a:spAutoFit/>
          </a:bodyPr>
          <a:lstStyle/>
          <a:p>
            <a:pPr algn="l"/>
            <a:r>
              <a:rPr sz="1400" b="0" i="0">
                <a:solidFill>
                  <a:srgbClr val="C9D6E3"/>
                </a:solidFill>
                <a:latin typeface="Calibri"/>
              </a:rPr>
              <a:t>lower total inventory cost</a:t>
            </a:r>
          </a:p>
        </p:txBody>
      </p:sp>
      <p:sp>
        <p:nvSpPr>
          <p:cNvPr id="16" name="TextBox 15"/>
          <p:cNvSpPr txBox="1"/>
          <p:nvPr/>
        </p:nvSpPr>
        <p:spPr>
          <a:xfrm>
            <a:off x="548640" y="4206240"/>
            <a:ext cx="10972800" cy="731520"/>
          </a:xfrm>
          <a:prstGeom prst="rect">
            <a:avLst/>
          </a:prstGeom>
          <a:noFill/>
        </p:spPr>
        <p:txBody>
          <a:bodyPr wrap="square" lIns="0" tIns="0" rIns="0" bIns="0" anchor="t">
            <a:spAutoFit/>
          </a:bodyPr>
          <a:lstStyle/>
          <a:p>
            <a:pPr algn="l"/>
            <a:r>
              <a:rPr sz="1600" b="0" i="0">
                <a:solidFill>
                  <a:srgbClr val="C9D6E3"/>
                </a:solidFill>
                <a:latin typeface="Calibri"/>
              </a:rPr>
              <a:t>Classical ML only  •  Random Forest, Gradient Boosting, Logistic Regression, K-Means  •  SHAP  •  Streamlit</a:t>
            </a:r>
          </a:p>
        </p:txBody>
      </p:sp>
      <p:sp>
        <p:nvSpPr>
          <p:cNvPr id="17" name="TextBox 16"/>
          <p:cNvSpPr txBox="1"/>
          <p:nvPr/>
        </p:nvSpPr>
        <p:spPr>
          <a:xfrm>
            <a:off x="548640" y="5120640"/>
            <a:ext cx="10972800" cy="822960"/>
          </a:xfrm>
          <a:prstGeom prst="rect">
            <a:avLst/>
          </a:prstGeom>
          <a:noFill/>
        </p:spPr>
        <p:txBody>
          <a:bodyPr wrap="square" lIns="0" tIns="0" rIns="0" bIns="0" anchor="t">
            <a:spAutoFit/>
          </a:bodyPr>
          <a:lstStyle/>
          <a:p>
            <a:pPr algn="l"/>
            <a:r>
              <a:rPr sz="3600" b="1" i="0">
                <a:solidFill>
                  <a:srgbClr val="F2C16B"/>
                </a:solidFill>
                <a:latin typeface="Cambria"/>
              </a:rPr>
              <a:t>Thank you  -  questions?</a:t>
            </a:r>
          </a:p>
        </p:txBody>
      </p:sp>
      <p:sp>
        <p:nvSpPr>
          <p:cNvPr id="18" name="TextBox 17"/>
          <p:cNvSpPr txBox="1"/>
          <p:nvPr/>
        </p:nvSpPr>
        <p:spPr>
          <a:xfrm>
            <a:off x="548640" y="6035040"/>
            <a:ext cx="11064240" cy="365760"/>
          </a:xfrm>
          <a:prstGeom prst="rect">
            <a:avLst/>
          </a:prstGeom>
          <a:noFill/>
        </p:spPr>
        <p:txBody>
          <a:bodyPr wrap="square" lIns="0" tIns="0" rIns="0" bIns="0" anchor="t">
            <a:spAutoFit/>
          </a:bodyPr>
          <a:lstStyle/>
          <a:p>
            <a:pPr algn="l"/>
            <a:r>
              <a:rPr sz="1300" b="0" i="0">
                <a:solidFill>
                  <a:srgbClr val="C9D6E3"/>
                </a:solidFill>
                <a:latin typeface="Calibri"/>
              </a:rPr>
              <a:t>Yash Shah (L056)   |   Mahak Wadhawan (L074)   |   Yash Patil (L043)   |   Varshita Vaan (L069)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2527</Words>
  <Application>Microsoft Office PowerPoint</Application>
  <PresentationFormat>Widescreen</PresentationFormat>
  <Paragraphs>295</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DemandIQ</dc:title>
  <dc:subject/>
  <dc:creator>Yash Shah, Mahak Wadhawan, Yash Patil, Varshita Vaan</dc:creator>
  <cp:keywords/>
  <dc:description>generated using python-pptx</dc:description>
  <cp:lastModifiedBy>Mahak Wadhawan</cp:lastModifiedBy>
  <cp:revision>2</cp:revision>
  <dcterms:created xsi:type="dcterms:W3CDTF">2013-01-27T09:14:16Z</dcterms:created>
  <dcterms:modified xsi:type="dcterms:W3CDTF">2026-10-20T18:32:47Z</dcterms:modified>
  <cp:category/>
</cp:coreProperties>
</file>